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各位好，我是「每日记账」的创始人。先用一句话说清我们做的事：让记账，像发一条朋友圈一样轻。</a:t>
            </a:r>
          </a:p>
          <a:p>
            <a:endParaRPr lang="en-US" dirty="0"/>
          </a:p>
          <a:p>
            <a:r>
              <a:rPr lang="zh-CN" dirty="0"/>
              <a:t>记账这件事，几乎人人都试过，但绝大多数人都坚持不下来。我们要做的，就是把「记一笔」这个动作做到极致简单——五秒内完成——再用习惯养成机制，解决记账类产品最大的难题：留不住人。</a:t>
            </a:r>
          </a:p>
          <a:p>
            <a:endParaRPr lang="en-US" dirty="0"/>
          </a:p>
          <a:p>
            <a:r>
              <a:rPr lang="zh-CN" dirty="0"/>
              <a:t>产品已经覆盖 Web、iOS、安卓和微信小程序三端。今天来，是寻求天使轮融资。接下来五页，我会讲清楚痛点、卖点、产品进展、市场和我们的诉求。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先说痛点。这是一个很拧巴的市场：人人都想记账，但没人能坚持。</a:t>
            </a:r>
          </a:p>
          <a:p>
            <a:endParaRPr lang="en-US" dirty="0"/>
          </a:p>
          <a:p>
            <a:r>
              <a:rPr lang="zh-CN" dirty="0"/>
              <a:t>我们调研下来，放弃记账的原因高度集中在四点：第一，步骤太繁琐，选账户、选分类、填备注，记一笔要点七八下；第二，容易忘，一天结束才想起没记；第三，三分钟热度，下载一堆 App 一周后全删了；第四，记了一堆数字，却看不懂、没法复盘。</a:t>
            </a:r>
          </a:p>
          <a:p>
            <a:endParaRPr lang="en-US" dirty="0"/>
          </a:p>
          <a:p>
            <a:r>
              <a:rPr lang="zh-CN" dirty="0"/>
              <a:t>为什么现有产品解决不了？因为它们走了两个极端：随手记、鲨鱼记账这类太重，功能堆得满、广告还多；支付宝记账本又绑生态、分类粗。真正的市场缺口，是一款够轻、无广告、还能让人坚持下来的工具——这就是我们切进去的位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这一页是重点：我们凭什么赢？三个字——轻、快、黏。</a:t>
            </a:r>
          </a:p>
          <a:p>
            <a:endParaRPr lang="en-US" dirty="0"/>
          </a:p>
          <a:p>
            <a:r>
              <a:rPr lang="zh-CN" dirty="0"/>
              <a:t>先说快，这是我们的核心护城河。一镜直达的首页，金额、分类、保存三步搞定，打开就聚焦输入框，目标是单笔五秒内完成，比任何竞品都快。</a:t>
            </a:r>
          </a:p>
          <a:p>
            <a:endParaRPr lang="en-US" dirty="0"/>
          </a:p>
          <a:p>
            <a:r>
              <a:rPr lang="zh-CN" dirty="0"/>
              <a:t>再说轻：无广告、不绑生态、零学习成本，加上粉嫩温暖的产品调性，让记账从一种负担变成愉悦的小习惯。</a:t>
            </a:r>
          </a:p>
          <a:p>
            <a:endParaRPr lang="en-US" dirty="0"/>
          </a:p>
          <a:p>
            <a:r>
              <a:rPr lang="zh-CN" dirty="0"/>
              <a:t>最关键的是黏——连续打卡、每周账单、餐饮专项复盘，用习惯养成机制直接打到行业最痛的留存难题。</a:t>
            </a:r>
          </a:p>
          <a:p>
            <a:endParaRPr lang="en-US" dirty="0"/>
          </a:p>
          <a:p>
            <a:r>
              <a:rPr lang="zh-CN" dirty="0"/>
              <a:t>下面这排数字是我们的产品目标：单笔小于五秒、次日留存超过百分之四十、人均每天记账两笔以上、零广告零干扰。这些不是空话，是我们产品设计里就埋好的指标。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讲讲产品进展，证明我们不是只有 PPT。三端已经落地，核心链路是真实跑通的。</a:t>
            </a:r>
          </a:p>
          <a:p>
            <a:endParaRPr lang="en-US" dirty="0"/>
          </a:p>
          <a:p>
            <a:r>
              <a:rPr lang="zh-CN" dirty="0"/>
              <a:t>已经实现的部分：注册登录，用的是 JWT 加 bcrypt 加密；快速记账和分类管理，十个预置分类加自定义；交易记录支持按日分组、搜索、筛选、分页;还有餐饮专项分析和统计图表。</a:t>
            </a:r>
          </a:p>
          <a:p>
            <a:endParaRPr lang="en-US" dirty="0"/>
          </a:p>
          <a:p>
            <a:r>
              <a:rPr lang="zh-CN" dirty="0"/>
              <a:t>技术上，后端是 Spring Boot 加 MyBatis 加 MySQL，移动端用 uni-app 一套代码发三端，研发效率高。</a:t>
            </a:r>
          </a:p>
          <a:p>
            <a:endParaRPr lang="en-US" dirty="0"/>
          </a:p>
          <a:p>
            <a:r>
              <a:rPr lang="zh-CN" dirty="0"/>
              <a:t>现在的阶段是：MVP 已经成型，核心链路打通，正在进入内测打磨期。</a:t>
            </a:r>
          </a:p>
          <a:p>
            <a:endParaRPr lang="en-US" dirty="0"/>
          </a:p>
          <a:p>
            <a:r>
              <a:rPr lang="zh-CN" dirty="0"/>
              <a:t>这里我要特别诚实地说一点：云同步、账单导出、后台运营系统，这些是下一阶段的功能，目前还没上线。我在这一页如实标注了，不会给各位画超出当前能力的饼。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最后，市场、路线图和我们的诉求。</a:t>
            </a:r>
          </a:p>
          <a:p>
            <a:endParaRPr lang="en-US" dirty="0"/>
          </a:p>
          <a:p>
            <a:r>
              <a:rPr lang="zh-CN" dirty="0"/>
              <a:t>市场上，移动支付的年轻用户基数在 2.6 亿量级——这是行业测算口径；记账是每天两次以上的高频刚需，天然有粘性；而我们的差异化很清楚：做最轻、无广告的那一个，避开和巨头的正面战场。</a:t>
            </a:r>
          </a:p>
          <a:p>
            <a:endParaRPr lang="en-US" dirty="0"/>
          </a:p>
          <a:p>
            <a:r>
              <a:rPr lang="zh-CN" dirty="0"/>
              <a:t>路线图分三步：零到三个月是种子期，核心打磨加五十到两百人内测，跑通激活；三到九个月是增长期，上线云同步、铺内容矩阵，把七日留存做到百分之二十以上；九个月以后进入商业化，探索账单导出、会员和数据洞察。</a:t>
            </a:r>
          </a:p>
          <a:p>
            <a:endParaRPr lang="en-US" dirty="0"/>
          </a:p>
          <a:p>
            <a:r>
              <a:rPr lang="zh-CN" dirty="0"/>
              <a:t>我们这轮寻求天使轮融资，主要用于团队搭建、产品打磨和冷启动获客；十二个月的里程碑，是做到十万注册用户，验证留存和单位经济模型。</a:t>
            </a:r>
          </a:p>
          <a:p>
            <a:endParaRPr lang="en-US" dirty="0"/>
          </a:p>
          <a:p>
            <a:r>
              <a:rPr lang="zh-CN" dirty="0"/>
              <a:t>让记账重新变得简单——一秒记账，清楚花钱。期待与各位同行，谢谢。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524000" y="-2857500"/>
            <a:ext cx="15621000" cy="12382500"/>
            <a:chOff x="-1524000" y="-2857500"/>
            <a:chExt cx="15621000" cy="1238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1320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239000" y="-2857500"/>
              <a:ext cx="6858000" cy="6858000"/>
            </a:xfrm>
            <a:prstGeom prst="ellipse">
              <a:avLst/>
            </a:prstGeom>
            <a:gradFill>
              <a:gsLst>
                <a:gs pos="0">
                  <a:srgbClr val="FF6B8A">
                    <a:alpha val="42000"/>
                  </a:srgbClr>
                </a:gs>
                <a:gs pos="100000">
                  <a:srgbClr val="FF6B8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524000" y="3810000"/>
              <a:ext cx="5715000" cy="5715000"/>
            </a:xfrm>
            <a:prstGeom prst="ellipse">
              <a:avLst/>
            </a:prstGeom>
            <a:gradFill>
              <a:gsLst>
                <a:gs pos="0">
                  <a:srgbClr val="FF8C6B">
                    <a:alpha val="26000"/>
                  </a:srgbClr>
                </a:gs>
                <a:gs pos="100000">
                  <a:srgbClr val="FF8C6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62000" y="876300"/>
            <a:ext cx="2916593" cy="578167"/>
            <a:chOff x="762000" y="876300"/>
            <a:chExt cx="2916593" cy="578167"/>
          </a:xfrm>
        </p:grpSpPr>
        <p:sp>
          <p:nvSpPr>
            <p:cNvPr id="6" name="Rectangle 6"/>
            <p:cNvSpPr/>
            <p:nvPr/>
          </p:nvSpPr>
          <p:spPr>
            <a:xfrm>
              <a:off x="762000" y="876300"/>
              <a:ext cx="533400" cy="533400"/>
            </a:xfrm>
            <a:prstGeom prst="roundRect">
              <a:avLst>
                <a:gd name="adj" fmla="val 28571"/>
              </a:avLst>
            </a:prstGeom>
            <a:gradFill>
              <a:gsLst>
                <a:gs pos="0">
                  <a:srgbClr val="FF6B8A"/>
                </a:gs>
                <a:gs pos="100000">
                  <a:srgbClr val="E84D6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3974" y="10144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38656" y="967740"/>
              <a:ext cx="22399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每日记账</a:t>
              </a:r>
              <a:r>
                <a:rPr lang="en-US" sz="1500" dirty="0">
                  <a:solidFill>
                    <a:srgbClr val="A99FB0"/>
                  </a:solidFill>
                  <a:latin typeface="Segoe UI"/>
                  <a:ea typeface="Segoe UI"/>
                  <a:cs typeface="Segoe UI"/>
                </a:rPr>
                <a:t xml:space="preserve"> DailyBudget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2343150"/>
            <a:ext cx="2343150" cy="361950"/>
            <a:chOff x="762000" y="2343150"/>
            <a:chExt cx="2343150" cy="361950"/>
          </a:xfrm>
        </p:grpSpPr>
        <p:sp>
          <p:nvSpPr>
            <p:cNvPr id="10" name="Rectangle 10"/>
            <p:cNvSpPr/>
            <p:nvPr/>
          </p:nvSpPr>
          <p:spPr>
            <a:xfrm>
              <a:off x="762000" y="2343150"/>
              <a:ext cx="2343150" cy="361950"/>
            </a:xfrm>
            <a:prstGeom prst="roundRect">
              <a:avLst>
                <a:gd name="adj" fmla="val 50000"/>
              </a:avLst>
            </a:prstGeom>
            <a:solidFill>
              <a:srgbClr val="FF6B8A">
                <a:alpha val="10000"/>
              </a:srgbClr>
            </a:solidFill>
            <a:ln w="9525">
              <a:solidFill>
                <a:srgbClr val="FF6B8A">
                  <a:alpha val="45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4217" y="2435542"/>
              <a:ext cx="196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FF6B8A"/>
                  </a:solidFill>
                  <a:latin typeface="Segoe UI"/>
                  <a:ea typeface="Microsoft YaHei"/>
                  <a:cs typeface="Segoe UI"/>
                </a:rPr>
                <a:t>投资人路演 · 天使轮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23900" y="2931795"/>
            <a:ext cx="8815997" cy="2400300"/>
            <a:chOff x="723900" y="2931795"/>
            <a:chExt cx="8815997" cy="2400300"/>
          </a:xfrm>
        </p:grpSpPr>
        <p:sp>
          <p:nvSpPr>
            <p:cNvPr id="13" name="TextBox 13"/>
            <p:cNvSpPr txBox="1"/>
            <p:nvPr/>
          </p:nvSpPr>
          <p:spPr>
            <a:xfrm>
              <a:off x="723900" y="2931795"/>
              <a:ext cx="3939388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让记账像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3900" y="3998595"/>
              <a:ext cx="8815997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gradFill>
                    <a:gsLst>
                      <a:gs pos="0">
                        <a:srgbClr val="FF6B8A"/>
                      </a:gs>
                      <a:gs pos="55000">
                        <a:srgbClr val="FF8C6B"/>
                      </a:gs>
                      <a:gs pos="100000">
                        <a:srgbClr val="FFD479"/>
                      </a:gs>
                    </a:gsLst>
                    <a:lin ang="1308084" scaled="1"/>
                  </a:gradFill>
                  <a:latin typeface="Segoe UI"/>
                  <a:ea typeface="Microsoft YaHei"/>
                  <a:cs typeface="Segoe UI"/>
                </a:rPr>
                <a:t>「发朋友圈」一样轻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1050" y="5143500"/>
            <a:ext cx="2700166" cy="409003"/>
            <a:chOff x="781050" y="5143500"/>
            <a:chExt cx="2700166" cy="409003"/>
          </a:xfrm>
        </p:grpSpPr>
        <p:sp>
          <p:nvSpPr>
            <p:cNvPr id="16" name="Rectangle 16"/>
            <p:cNvSpPr/>
            <p:nvPr/>
          </p:nvSpPr>
          <p:spPr>
            <a:xfrm>
              <a:off x="781050" y="5143500"/>
              <a:ext cx="57150" cy="285750"/>
            </a:xfrm>
            <a:prstGeom prst="roundRect">
              <a:avLst>
                <a:gd name="adj" fmla="val 50000"/>
              </a:avLst>
            </a:prstGeom>
            <a:solidFill>
              <a:srgbClr val="FFD47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0694" y="5171122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D479"/>
                  </a:solidFill>
                  <a:latin typeface="Segoe UI"/>
                  <a:ea typeface="Microsoft YaHei"/>
                  <a:cs typeface="Segoe UI"/>
                </a:rPr>
                <a:t>一秒记账，清楚花钱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2856" y="5692140"/>
            <a:ext cx="6900062" cy="352044"/>
            <a:chOff x="752856" y="5692140"/>
            <a:chExt cx="6900062" cy="352044"/>
          </a:xfrm>
        </p:grpSpPr>
        <p:sp>
          <p:nvSpPr>
            <p:cNvPr id="19" name="TextBox 19"/>
            <p:cNvSpPr txBox="1"/>
            <p:nvPr/>
          </p:nvSpPr>
          <p:spPr>
            <a:xfrm>
              <a:off x="752856" y="5692140"/>
              <a:ext cx="69000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用</a:t>
              </a:r>
              <a:r>
                <a:rPr lang="zh-CN" sz="18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极致轻量</a:t>
              </a:r>
              <a:r>
                <a:rPr lang="zh-CN" sz="18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＋</a:t>
              </a:r>
              <a:r>
                <a:rPr lang="zh-CN" sz="18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习惯养成</a:t>
              </a:r>
              <a:r>
                <a:rPr lang="zh-CN" sz="18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，解决记账产品「留不住人」的根本问题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5904" y="6324600"/>
            <a:ext cx="10680192" cy="371856"/>
            <a:chOff x="755904" y="6324600"/>
            <a:chExt cx="10680192" cy="371856"/>
          </a:xfrm>
        </p:grpSpPr>
        <p:sp>
          <p:nvSpPr>
            <p:cNvPr id="21" name="Line 21"/>
            <p:cNvSpPr/>
            <p:nvPr/>
          </p:nvSpPr>
          <p:spPr>
            <a:xfrm>
              <a:off x="762000" y="632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3A2C4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904" y="6461760"/>
              <a:ext cx="32664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三端覆盖 Web · iOS · Android · 微信小程序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22688" y="64617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2026.06 寻求天使轮融资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1714500"/>
            <a:ext cx="14097000" cy="8572500"/>
            <a:chOff x="0" y="-1714500"/>
            <a:chExt cx="1409700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1320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-1714500"/>
              <a:ext cx="5715000" cy="5715000"/>
            </a:xfrm>
            <a:prstGeom prst="ellipse">
              <a:avLst/>
            </a:prstGeom>
            <a:gradFill>
              <a:gsLst>
                <a:gs pos="0">
                  <a:srgbClr val="FF6B8A">
                    <a:alpha val="20000"/>
                  </a:srgbClr>
                </a:gs>
                <a:gs pos="100000">
                  <a:srgbClr val="FF6B8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5236" y="730568"/>
            <a:ext cx="5631028" cy="968311"/>
            <a:chOff x="745236" y="730568"/>
            <a:chExt cx="5631028" cy="968311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730568"/>
              <a:ext cx="2218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FF6B8A"/>
                  </a:solidFill>
                  <a:latin typeface="Segoe UI"/>
                  <a:ea typeface="Microsoft YaHei"/>
                  <a:cs typeface="Segoe UI"/>
                </a:rPr>
                <a:t>问题 · THE PROBLEM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236" y="1053465"/>
              <a:ext cx="56310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人人都想记账，</a:t>
              </a:r>
              <a:r>
                <a:rPr lang="zh-CN" sz="3300" b="1" dirty="0">
                  <a:solidFill>
                    <a:srgbClr val="FF8C6B"/>
                  </a:solidFill>
                  <a:latin typeface="Segoe UI"/>
                  <a:ea typeface="Microsoft YaHei"/>
                  <a:cs typeface="Segoe UI"/>
                </a:rPr>
                <a:t>没人能坚持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866900"/>
            <a:ext cx="5334000" cy="876300"/>
            <a:chOff x="762000" y="1866900"/>
            <a:chExt cx="5334000" cy="876300"/>
          </a:xfrm>
        </p:grpSpPr>
        <p:sp>
          <p:nvSpPr>
            <p:cNvPr id="8" name="Rectangle 8"/>
            <p:cNvSpPr/>
            <p:nvPr/>
          </p:nvSpPr>
          <p:spPr>
            <a:xfrm>
              <a:off x="762000" y="1866900"/>
              <a:ext cx="5334000" cy="876300"/>
            </a:xfrm>
            <a:prstGeom prst="roundRect">
              <a:avLst>
                <a:gd name="adj" fmla="val 1521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866900"/>
              <a:ext cx="38100" cy="876300"/>
            </a:xfrm>
            <a:prstGeom prst="roundRect">
              <a:avLst>
                <a:gd name="adj" fmla="val 50000"/>
              </a:avLst>
            </a:prstGeom>
            <a:solidFill>
              <a:srgbClr val="FF6B8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0600" y="2076450"/>
              <a:ext cx="457200" cy="457200"/>
            </a:xfrm>
            <a:prstGeom prst="ellipse">
              <a:avLst/>
            </a:prstGeom>
            <a:solidFill>
              <a:srgbClr val="FF6B8A">
                <a:alpha val="14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92200" y="2172361"/>
              <a:ext cx="267081" cy="267518"/>
            </a:xfrm>
            <a:custGeom>
              <a:avLst/>
              <a:gdLst/>
              <a:ahLst/>
              <a:cxnLst/>
              <a:rect l="l" t="t" r="r" b="b"/>
              <a:pathLst>
                <a:path w="267081" h="267518">
                  <a:moveTo>
                    <a:pt x="190500" y="22707"/>
                  </a:moveTo>
                  <a:cubicBezTo>
                    <a:pt x="243425" y="53266"/>
                    <a:pt x="267081" y="117187"/>
                    <a:pt x="246798" y="174837"/>
                  </a:cubicBezTo>
                  <a:cubicBezTo>
                    <a:pt x="226516" y="232488"/>
                    <a:pt x="168049" y="267518"/>
                    <a:pt x="107648" y="258207"/>
                  </a:cubicBezTo>
                  <a:cubicBezTo>
                    <a:pt x="47247" y="248896"/>
                    <a:pt x="2043" y="197886"/>
                    <a:pt x="63" y="136803"/>
                  </a:cubicBezTo>
                  <a:lnTo>
                    <a:pt x="0" y="132688"/>
                  </a:lnTo>
                  <a:lnTo>
                    <a:pt x="63" y="128574"/>
                  </a:lnTo>
                  <a:cubicBezTo>
                    <a:pt x="1510" y="83958"/>
                    <a:pt x="26274" y="43379"/>
                    <a:pt x="65289" y="21689"/>
                  </a:cubicBezTo>
                  <a:cubicBezTo>
                    <a:pt x="104304" y="0"/>
                    <a:pt x="151842" y="386"/>
                    <a:pt x="190500" y="22707"/>
                  </a:cubicBezTo>
                  <a:close/>
                  <a:moveTo>
                    <a:pt x="127000" y="56489"/>
                  </a:moveTo>
                  <a:cubicBezTo>
                    <a:pt x="120561" y="56490"/>
                    <a:pt x="115142" y="61308"/>
                    <a:pt x="114389" y="67703"/>
                  </a:cubicBezTo>
                  <a:lnTo>
                    <a:pt x="114300" y="69189"/>
                  </a:lnTo>
                  <a:lnTo>
                    <a:pt x="114300" y="132688"/>
                  </a:lnTo>
                  <a:lnTo>
                    <a:pt x="114414" y="134352"/>
                  </a:lnTo>
                  <a:cubicBezTo>
                    <a:pt x="114704" y="136556"/>
                    <a:pt x="115566" y="138644"/>
                    <a:pt x="116916" y="140410"/>
                  </a:cubicBezTo>
                  <a:lnTo>
                    <a:pt x="118021" y="141680"/>
                  </a:lnTo>
                  <a:lnTo>
                    <a:pt x="156121" y="179780"/>
                  </a:lnTo>
                  <a:lnTo>
                    <a:pt x="157315" y="180821"/>
                  </a:lnTo>
                  <a:cubicBezTo>
                    <a:pt x="161896" y="184376"/>
                    <a:pt x="168303" y="184376"/>
                    <a:pt x="172885" y="180821"/>
                  </a:cubicBezTo>
                  <a:lnTo>
                    <a:pt x="174078" y="179767"/>
                  </a:lnTo>
                  <a:lnTo>
                    <a:pt x="175133" y="178573"/>
                  </a:lnTo>
                  <a:cubicBezTo>
                    <a:pt x="178687" y="173992"/>
                    <a:pt x="178687" y="167585"/>
                    <a:pt x="175133" y="163003"/>
                  </a:cubicBezTo>
                  <a:lnTo>
                    <a:pt x="174078" y="161810"/>
                  </a:lnTo>
                  <a:lnTo>
                    <a:pt x="139700" y="127418"/>
                  </a:lnTo>
                  <a:lnTo>
                    <a:pt x="139700" y="69189"/>
                  </a:lnTo>
                  <a:lnTo>
                    <a:pt x="139611" y="67703"/>
                  </a:lnTo>
                  <a:cubicBezTo>
                    <a:pt x="138857" y="61308"/>
                    <a:pt x="133438" y="56490"/>
                    <a:pt x="127000" y="56489"/>
                  </a:cubicBezTo>
                  <a:close/>
                </a:path>
              </a:pathLst>
            </a:custGeom>
            <a:solidFill>
              <a:srgbClr val="FF8FA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48968" y="20697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步骤太繁琐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0873" y="241506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选账户、选分类、填备注，记一笔要点七八下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2857500"/>
            <a:ext cx="5334000" cy="876300"/>
            <a:chOff x="762000" y="2857500"/>
            <a:chExt cx="5334000" cy="876300"/>
          </a:xfrm>
        </p:grpSpPr>
        <p:sp>
          <p:nvSpPr>
            <p:cNvPr id="15" name="Rectangle 15"/>
            <p:cNvSpPr/>
            <p:nvPr/>
          </p:nvSpPr>
          <p:spPr>
            <a:xfrm>
              <a:off x="762000" y="2857500"/>
              <a:ext cx="5334000" cy="876300"/>
            </a:xfrm>
            <a:prstGeom prst="roundRect">
              <a:avLst>
                <a:gd name="adj" fmla="val 1521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2857500"/>
              <a:ext cx="38100" cy="876300"/>
            </a:xfrm>
            <a:prstGeom prst="roundRect">
              <a:avLst>
                <a:gd name="adj" fmla="val 50000"/>
              </a:avLst>
            </a:prstGeom>
            <a:solidFill>
              <a:srgbClr val="FF6B8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90600" y="3067050"/>
              <a:ext cx="457200" cy="457200"/>
            </a:xfrm>
            <a:prstGeom prst="ellipse">
              <a:avLst/>
            </a:prstGeom>
            <a:solidFill>
              <a:srgbClr val="FF6B8A">
                <a:alpha val="14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92200" y="3162961"/>
              <a:ext cx="267081" cy="267518"/>
            </a:xfrm>
            <a:custGeom>
              <a:avLst/>
              <a:gdLst/>
              <a:ahLst/>
              <a:cxnLst/>
              <a:rect l="l" t="t" r="r" b="b"/>
              <a:pathLst>
                <a:path w="267081" h="267518">
                  <a:moveTo>
                    <a:pt x="190500" y="22707"/>
                  </a:moveTo>
                  <a:cubicBezTo>
                    <a:pt x="243425" y="53266"/>
                    <a:pt x="267081" y="117187"/>
                    <a:pt x="246798" y="174837"/>
                  </a:cubicBezTo>
                  <a:cubicBezTo>
                    <a:pt x="226516" y="232488"/>
                    <a:pt x="168049" y="267518"/>
                    <a:pt x="107648" y="258207"/>
                  </a:cubicBezTo>
                  <a:cubicBezTo>
                    <a:pt x="47247" y="248896"/>
                    <a:pt x="2043" y="197886"/>
                    <a:pt x="63" y="136803"/>
                  </a:cubicBezTo>
                  <a:lnTo>
                    <a:pt x="0" y="132688"/>
                  </a:lnTo>
                  <a:lnTo>
                    <a:pt x="63" y="128574"/>
                  </a:lnTo>
                  <a:cubicBezTo>
                    <a:pt x="1510" y="83958"/>
                    <a:pt x="26274" y="43379"/>
                    <a:pt x="65289" y="21689"/>
                  </a:cubicBezTo>
                  <a:cubicBezTo>
                    <a:pt x="104304" y="0"/>
                    <a:pt x="151842" y="386"/>
                    <a:pt x="190500" y="22707"/>
                  </a:cubicBezTo>
                  <a:close/>
                  <a:moveTo>
                    <a:pt x="127000" y="147928"/>
                  </a:moveTo>
                  <a:cubicBezTo>
                    <a:pt x="111643" y="147927"/>
                    <a:pt x="96932" y="154106"/>
                    <a:pt x="86182" y="165073"/>
                  </a:cubicBezTo>
                  <a:cubicBezTo>
                    <a:pt x="82929" y="168298"/>
                    <a:pt x="81664" y="173025"/>
                    <a:pt x="82873" y="177443"/>
                  </a:cubicBezTo>
                  <a:cubicBezTo>
                    <a:pt x="84081" y="181861"/>
                    <a:pt x="87575" y="185286"/>
                    <a:pt x="92016" y="186407"/>
                  </a:cubicBezTo>
                  <a:cubicBezTo>
                    <a:pt x="96457" y="187528"/>
                    <a:pt x="101158" y="186170"/>
                    <a:pt x="104318" y="182853"/>
                  </a:cubicBezTo>
                  <a:cubicBezTo>
                    <a:pt x="110290" y="176756"/>
                    <a:pt x="118465" y="173320"/>
                    <a:pt x="127000" y="173320"/>
                  </a:cubicBezTo>
                  <a:cubicBezTo>
                    <a:pt x="135534" y="173320"/>
                    <a:pt x="143710" y="176756"/>
                    <a:pt x="149682" y="182853"/>
                  </a:cubicBezTo>
                  <a:cubicBezTo>
                    <a:pt x="154613" y="187741"/>
                    <a:pt x="162556" y="187763"/>
                    <a:pt x="167514" y="182903"/>
                  </a:cubicBezTo>
                  <a:cubicBezTo>
                    <a:pt x="172471" y="178042"/>
                    <a:pt x="172607" y="170100"/>
                    <a:pt x="167817" y="165073"/>
                  </a:cubicBezTo>
                  <a:cubicBezTo>
                    <a:pt x="157068" y="154106"/>
                    <a:pt x="142356" y="147927"/>
                    <a:pt x="127000" y="147928"/>
                  </a:cubicBezTo>
                  <a:close/>
                  <a:moveTo>
                    <a:pt x="89027" y="94589"/>
                  </a:moveTo>
                  <a:lnTo>
                    <a:pt x="87414" y="94677"/>
                  </a:lnTo>
                  <a:cubicBezTo>
                    <a:pt x="81025" y="95437"/>
                    <a:pt x="76214" y="100855"/>
                    <a:pt x="76214" y="107289"/>
                  </a:cubicBezTo>
                  <a:cubicBezTo>
                    <a:pt x="76214" y="113722"/>
                    <a:pt x="81025" y="119140"/>
                    <a:pt x="87414" y="119900"/>
                  </a:cubicBezTo>
                  <a:lnTo>
                    <a:pt x="88900" y="119989"/>
                  </a:lnTo>
                  <a:lnTo>
                    <a:pt x="90513" y="119900"/>
                  </a:lnTo>
                  <a:cubicBezTo>
                    <a:pt x="96901" y="119140"/>
                    <a:pt x="101713" y="113722"/>
                    <a:pt x="101713" y="107289"/>
                  </a:cubicBezTo>
                  <a:cubicBezTo>
                    <a:pt x="101713" y="100855"/>
                    <a:pt x="96901" y="95437"/>
                    <a:pt x="90513" y="94677"/>
                  </a:cubicBezTo>
                  <a:lnTo>
                    <a:pt x="89027" y="94589"/>
                  </a:lnTo>
                  <a:close/>
                  <a:moveTo>
                    <a:pt x="165227" y="94589"/>
                  </a:moveTo>
                  <a:lnTo>
                    <a:pt x="163614" y="94677"/>
                  </a:lnTo>
                  <a:cubicBezTo>
                    <a:pt x="157225" y="95437"/>
                    <a:pt x="152414" y="100855"/>
                    <a:pt x="152414" y="107289"/>
                  </a:cubicBezTo>
                  <a:cubicBezTo>
                    <a:pt x="152414" y="113722"/>
                    <a:pt x="157225" y="119140"/>
                    <a:pt x="163614" y="119900"/>
                  </a:cubicBezTo>
                  <a:lnTo>
                    <a:pt x="165100" y="119989"/>
                  </a:lnTo>
                  <a:lnTo>
                    <a:pt x="166712" y="119900"/>
                  </a:lnTo>
                  <a:cubicBezTo>
                    <a:pt x="173101" y="119140"/>
                    <a:pt x="177912" y="113722"/>
                    <a:pt x="177912" y="107289"/>
                  </a:cubicBezTo>
                  <a:cubicBezTo>
                    <a:pt x="177912" y="100855"/>
                    <a:pt x="173101" y="95437"/>
                    <a:pt x="166712" y="94677"/>
                  </a:cubicBezTo>
                  <a:lnTo>
                    <a:pt x="165227" y="94589"/>
                  </a:lnTo>
                  <a:close/>
                </a:path>
              </a:pathLst>
            </a:custGeom>
            <a:solidFill>
              <a:srgbClr val="FF8FA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648968" y="3060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容易忘记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50873" y="34056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一天结束才想起没记，消费早就忘了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3848100"/>
            <a:ext cx="5334000" cy="876300"/>
            <a:chOff x="762000" y="3848100"/>
            <a:chExt cx="5334000" cy="876300"/>
          </a:xfrm>
        </p:grpSpPr>
        <p:sp>
          <p:nvSpPr>
            <p:cNvPr id="22" name="Rectangle 22"/>
            <p:cNvSpPr/>
            <p:nvPr/>
          </p:nvSpPr>
          <p:spPr>
            <a:xfrm>
              <a:off x="762000" y="3848100"/>
              <a:ext cx="5334000" cy="876300"/>
            </a:xfrm>
            <a:prstGeom prst="roundRect">
              <a:avLst>
                <a:gd name="adj" fmla="val 1521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2000" y="3848100"/>
              <a:ext cx="38100" cy="876300"/>
            </a:xfrm>
            <a:prstGeom prst="roundRect">
              <a:avLst>
                <a:gd name="adj" fmla="val 50000"/>
              </a:avLst>
            </a:prstGeom>
            <a:solidFill>
              <a:srgbClr val="FF6B8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90600" y="4057650"/>
              <a:ext cx="457200" cy="457200"/>
            </a:xfrm>
            <a:prstGeom prst="ellipse">
              <a:avLst/>
            </a:prstGeom>
            <a:solidFill>
              <a:srgbClr val="FF6B8A">
                <a:alpha val="14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117600" y="4142346"/>
              <a:ext cx="203199" cy="270903"/>
            </a:xfrm>
            <a:custGeom>
              <a:avLst/>
              <a:gdLst/>
              <a:ahLst/>
              <a:cxnLst/>
              <a:rect l="l" t="t" r="r" b="b"/>
              <a:pathLst>
                <a:path w="203199" h="270903">
                  <a:moveTo>
                    <a:pt x="76200" y="16904"/>
                  </a:moveTo>
                  <a:cubicBezTo>
                    <a:pt x="76200" y="5728"/>
                    <a:pt x="89611" y="0"/>
                    <a:pt x="97688" y="7734"/>
                  </a:cubicBezTo>
                  <a:cubicBezTo>
                    <a:pt x="122555" y="31559"/>
                    <a:pt x="137007" y="83871"/>
                    <a:pt x="119913" y="123558"/>
                  </a:cubicBezTo>
                  <a:lnTo>
                    <a:pt x="118897" y="125768"/>
                  </a:lnTo>
                  <a:lnTo>
                    <a:pt x="119050" y="125806"/>
                  </a:lnTo>
                  <a:cubicBezTo>
                    <a:pt x="126987" y="127495"/>
                    <a:pt x="134328" y="120345"/>
                    <a:pt x="148298" y="98209"/>
                  </a:cubicBezTo>
                  <a:lnTo>
                    <a:pt x="150076" y="95364"/>
                  </a:lnTo>
                  <a:cubicBezTo>
                    <a:pt x="152164" y="92002"/>
                    <a:pt x="155701" y="89806"/>
                    <a:pt x="159641" y="89425"/>
                  </a:cubicBezTo>
                  <a:cubicBezTo>
                    <a:pt x="163580" y="89044"/>
                    <a:pt x="167473" y="90521"/>
                    <a:pt x="170167" y="93421"/>
                  </a:cubicBezTo>
                  <a:cubicBezTo>
                    <a:pt x="187109" y="111645"/>
                    <a:pt x="203199" y="149009"/>
                    <a:pt x="203199" y="173050"/>
                  </a:cubicBezTo>
                  <a:cubicBezTo>
                    <a:pt x="203199" y="227215"/>
                    <a:pt x="157594" y="270903"/>
                    <a:pt x="101600" y="270903"/>
                  </a:cubicBezTo>
                  <a:cubicBezTo>
                    <a:pt x="45606" y="270903"/>
                    <a:pt x="0" y="227215"/>
                    <a:pt x="0" y="173037"/>
                  </a:cubicBezTo>
                  <a:cubicBezTo>
                    <a:pt x="0" y="144437"/>
                    <a:pt x="12979" y="113144"/>
                    <a:pt x="33426" y="93015"/>
                  </a:cubicBezTo>
                  <a:lnTo>
                    <a:pt x="41110" y="85534"/>
                  </a:lnTo>
                  <a:cubicBezTo>
                    <a:pt x="44170" y="82537"/>
                    <a:pt x="46622" y="80073"/>
                    <a:pt x="48958" y="77610"/>
                  </a:cubicBezTo>
                  <a:cubicBezTo>
                    <a:pt x="67119" y="58407"/>
                    <a:pt x="76200" y="40475"/>
                    <a:pt x="76200" y="16904"/>
                  </a:cubicBezTo>
                </a:path>
              </a:pathLst>
            </a:custGeom>
            <a:solidFill>
              <a:srgbClr val="FF8FA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648968" y="40509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三分钟热度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50873" y="4396264"/>
              <a:ext cx="2452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下载一堆 App，一周后全部放弃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4838700"/>
            <a:ext cx="5334000" cy="876300"/>
            <a:chOff x="762000" y="4838700"/>
            <a:chExt cx="5334000" cy="876300"/>
          </a:xfrm>
        </p:grpSpPr>
        <p:sp>
          <p:nvSpPr>
            <p:cNvPr id="29" name="Rectangle 29"/>
            <p:cNvSpPr/>
            <p:nvPr/>
          </p:nvSpPr>
          <p:spPr>
            <a:xfrm>
              <a:off x="762000" y="4838700"/>
              <a:ext cx="5334000" cy="876300"/>
            </a:xfrm>
            <a:prstGeom prst="roundRect">
              <a:avLst>
                <a:gd name="adj" fmla="val 1521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4838700"/>
              <a:ext cx="38100" cy="876300"/>
            </a:xfrm>
            <a:prstGeom prst="roundRect">
              <a:avLst>
                <a:gd name="adj" fmla="val 50000"/>
              </a:avLst>
            </a:prstGeom>
            <a:solidFill>
              <a:srgbClr val="FF6B8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90600" y="5048250"/>
              <a:ext cx="457200" cy="457200"/>
            </a:xfrm>
            <a:prstGeom prst="ellipse">
              <a:avLst/>
            </a:prstGeom>
            <a:solidFill>
              <a:srgbClr val="FF6B8A">
                <a:alpha val="14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92200" y="5150485"/>
              <a:ext cx="253364" cy="262741"/>
            </a:xfrm>
            <a:custGeom>
              <a:avLst/>
              <a:gdLst/>
              <a:ahLst/>
              <a:cxnLst/>
              <a:rect l="l" t="t" r="r" b="b"/>
              <a:pathLst>
                <a:path w="253364" h="262741">
                  <a:moveTo>
                    <a:pt x="190500" y="236346"/>
                  </a:moveTo>
                  <a:cubicBezTo>
                    <a:pt x="144784" y="262741"/>
                    <a:pt x="87509" y="258104"/>
                    <a:pt x="46634" y="224701"/>
                  </a:cubicBezTo>
                  <a:lnTo>
                    <a:pt x="132257" y="139065"/>
                  </a:lnTo>
                  <a:lnTo>
                    <a:pt x="253364" y="139065"/>
                  </a:lnTo>
                  <a:cubicBezTo>
                    <a:pt x="249277" y="179716"/>
                    <a:pt x="225883" y="215919"/>
                    <a:pt x="190500" y="236346"/>
                  </a:cubicBezTo>
                  <a:moveTo>
                    <a:pt x="114300" y="0"/>
                  </a:moveTo>
                  <a:lnTo>
                    <a:pt x="114300" y="121081"/>
                  </a:lnTo>
                  <a:lnTo>
                    <a:pt x="28664" y="206730"/>
                  </a:lnTo>
                  <a:cubicBezTo>
                    <a:pt x="10127" y="184049"/>
                    <a:pt x="1" y="155657"/>
                    <a:pt x="0" y="126365"/>
                  </a:cubicBezTo>
                  <a:lnTo>
                    <a:pt x="63" y="122250"/>
                  </a:lnTo>
                  <a:cubicBezTo>
                    <a:pt x="2125" y="58630"/>
                    <a:pt x="50965" y="6364"/>
                    <a:pt x="114300" y="0"/>
                  </a:cubicBezTo>
                  <a:moveTo>
                    <a:pt x="190500" y="16383"/>
                  </a:moveTo>
                  <a:cubicBezTo>
                    <a:pt x="225883" y="36810"/>
                    <a:pt x="249277" y="73013"/>
                    <a:pt x="253364" y="113665"/>
                  </a:cubicBezTo>
                  <a:lnTo>
                    <a:pt x="139700" y="113665"/>
                  </a:lnTo>
                  <a:lnTo>
                    <a:pt x="139700" y="0"/>
                  </a:lnTo>
                  <a:cubicBezTo>
                    <a:pt x="157602" y="1801"/>
                    <a:pt x="174918" y="7385"/>
                    <a:pt x="190500" y="16383"/>
                  </a:cubicBezTo>
                </a:path>
              </a:pathLst>
            </a:custGeom>
            <a:solidFill>
              <a:srgbClr val="FF8FA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8968" y="5041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数据看不懂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50873" y="53868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记了一堆数字，却没有清晰的复盘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1866900"/>
            <a:ext cx="4876800" cy="3848100"/>
            <a:chOff x="6553200" y="1866900"/>
            <a:chExt cx="4876800" cy="3848100"/>
          </a:xfrm>
        </p:grpSpPr>
        <p:sp>
          <p:nvSpPr>
            <p:cNvPr id="36" name="Rectangle 36"/>
            <p:cNvSpPr/>
            <p:nvPr/>
          </p:nvSpPr>
          <p:spPr>
            <a:xfrm>
              <a:off x="6553200" y="1866900"/>
              <a:ext cx="4876800" cy="3848100"/>
            </a:xfrm>
            <a:prstGeom prst="roundRect">
              <a:avLst>
                <a:gd name="adj" fmla="val 4455"/>
              </a:avLst>
            </a:prstGeom>
            <a:solidFill>
              <a:srgbClr val="2E2238"/>
            </a:solidFill>
            <a:ln w="9525">
              <a:solidFill>
                <a:srgbClr val="FF6B8A">
                  <a:alpha val="30000"/>
                </a:srgb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88480" y="22955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479"/>
                  </a:solidFill>
                  <a:latin typeface="Segoe UI"/>
                  <a:ea typeface="Microsoft YaHei"/>
                  <a:cs typeface="Segoe UI"/>
                </a:rPr>
                <a:t>市场缺口在哪？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6194" y="28184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现有产品的两个极端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87718" y="3346132"/>
              <a:ext cx="31153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· 要么</a:t>
              </a:r>
              <a:r>
                <a:rPr lang="zh-CN" sz="1650" b="1" dirty="0">
                  <a:solidFill>
                    <a:srgbClr val="FF8C6B"/>
                  </a:solidFill>
                  <a:latin typeface="Segoe UI"/>
                  <a:ea typeface="Microsoft YaHei"/>
                  <a:cs typeface="Segoe UI"/>
                </a:rPr>
                <a:t>太重</a:t>
              </a:r>
              <a:r>
                <a:rPr lang="zh-CN" sz="165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：随手记、鲨鱼记账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87718" y="3746182"/>
              <a:ext cx="38372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· 要么</a:t>
              </a:r>
              <a:r>
                <a:rPr lang="zh-CN" sz="1650" b="1" dirty="0">
                  <a:solidFill>
                    <a:srgbClr val="FF8C6B"/>
                  </a:solidFill>
                  <a:latin typeface="Segoe UI"/>
                  <a:ea typeface="Microsoft YaHei"/>
                  <a:cs typeface="Segoe UI"/>
                </a:rPr>
                <a:t>绑生态、分类粗</a:t>
              </a:r>
              <a:r>
                <a:rPr lang="zh-CN" sz="165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：支付宝记账本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896100" y="42481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3A2C4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6956" y="45491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真正的缺口是一款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84670" y="490061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6B8A"/>
                  </a:solidFill>
                  <a:latin typeface="Segoe UI"/>
                  <a:ea typeface="Microsoft YaHei"/>
                  <a:cs typeface="Segoe UI"/>
                </a:rPr>
                <a:t>够轻、无广告、能让人坚持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87718" y="5327332"/>
              <a:ext cx="25156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——这正是我们的</a:t>
              </a:r>
              <a:r>
                <a:rPr lang="zh-CN" sz="1650" b="1" dirty="0">
                  <a:solidFill>
                    <a:srgbClr val="FFD479"/>
                  </a:solidFill>
                  <a:latin typeface="Segoe UI"/>
                  <a:ea typeface="Microsoft YaHei"/>
                  <a:cs typeface="Segoe UI"/>
                </a:rPr>
                <a:t>切入点</a:t>
              </a:r>
              <a:r>
                <a:rPr lang="zh-CN" sz="165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6285" y="6450806"/>
            <a:ext cx="10679430" cy="220028"/>
            <a:chOff x="756285" y="6450806"/>
            <a:chExt cx="10679430" cy="220028"/>
          </a:xfrm>
        </p:grpSpPr>
        <p:sp>
          <p:nvSpPr>
            <p:cNvPr id="46" name="TextBox 46"/>
            <p:cNvSpPr txBox="1"/>
            <p:nvPr/>
          </p:nvSpPr>
          <p:spPr>
            <a:xfrm>
              <a:off x="756285" y="6450806"/>
              <a:ext cx="154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6076"/>
                  </a:solidFill>
                  <a:latin typeface="Segoe UI"/>
                  <a:ea typeface="Microsoft YaHei"/>
                  <a:cs typeface="Segoe UI"/>
                </a:rPr>
                <a:t>每日记账 · 投资人路演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16936" y="6450806"/>
              <a:ext cx="518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E6076"/>
                  </a:solidFill>
                  <a:latin typeface="Segoe UI"/>
                  <a:ea typeface="Segoe UI"/>
                  <a:cs typeface="Segoe UI"/>
                </a:rPr>
                <a:t>02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952500" y="-2476500"/>
            <a:ext cx="14478000" cy="11239500"/>
            <a:chOff x="-952500" y="-2476500"/>
            <a:chExt cx="14478000" cy="11239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1320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048500" y="-2476500"/>
              <a:ext cx="6477000" cy="6477000"/>
            </a:xfrm>
            <a:prstGeom prst="ellipse">
              <a:avLst/>
            </a:prstGeom>
            <a:gradFill>
              <a:gsLst>
                <a:gs pos="0">
                  <a:srgbClr val="FF6B8A">
                    <a:alpha val="30000"/>
                  </a:srgbClr>
                </a:gs>
                <a:gs pos="100000">
                  <a:srgbClr val="FF6B8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952500" y="3810000"/>
              <a:ext cx="4953000" cy="4953000"/>
            </a:xfrm>
            <a:prstGeom prst="ellipse">
              <a:avLst/>
            </a:prstGeom>
            <a:gradFill>
              <a:gsLst>
                <a:gs pos="0">
                  <a:srgbClr val="FFD479">
                    <a:alpha val="22000"/>
                  </a:srgbClr>
                </a:gs>
                <a:gs pos="100000">
                  <a:srgbClr val="FFD479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236" y="673418"/>
            <a:ext cx="6237423" cy="949261"/>
            <a:chOff x="745236" y="673418"/>
            <a:chExt cx="6237423" cy="949261"/>
          </a:xfrm>
        </p:grpSpPr>
        <p:sp>
          <p:nvSpPr>
            <p:cNvPr id="6" name="TextBox 6"/>
            <p:cNvSpPr txBox="1"/>
            <p:nvPr/>
          </p:nvSpPr>
          <p:spPr>
            <a:xfrm>
              <a:off x="755142" y="673418"/>
              <a:ext cx="24721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FF6B8A"/>
                  </a:solidFill>
                  <a:latin typeface="Segoe UI"/>
                  <a:ea typeface="Microsoft YaHei"/>
                  <a:cs typeface="Segoe UI"/>
                </a:rPr>
                <a:t>核心卖点 · WHY WE WIN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977265"/>
              <a:ext cx="623742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三个字打穿市场：</a:t>
              </a:r>
              <a:r>
                <a:rPr lang="zh-CN" sz="3300" b="1" dirty="0">
                  <a:gradFill>
                    <a:gsLst>
                      <a:gs pos="0">
                        <a:srgbClr val="FF6B8A"/>
                      </a:gs>
                      <a:gs pos="55000">
                        <a:srgbClr val="FF8C6B"/>
                      </a:gs>
                      <a:gs pos="100000">
                        <a:srgbClr val="FFD479"/>
                      </a:gs>
                    </a:gsLst>
                    <a:lin ang="2700000" scaled="1"/>
                  </a:gradFill>
                  <a:latin typeface="Segoe UI"/>
                  <a:ea typeface="Microsoft YaHei"/>
                  <a:cs typeface="Segoe UI"/>
                </a:rPr>
                <a:t>轻 · 快 · 黏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60876" y="443865"/>
            <a:ext cx="1388174" cy="1219200"/>
            <a:chOff x="10060876" y="443865"/>
            <a:chExt cx="1388174" cy="1219200"/>
          </a:xfrm>
        </p:grpSpPr>
        <p:sp>
          <p:nvSpPr>
            <p:cNvPr id="9" name="TextBox 9"/>
            <p:cNvSpPr txBox="1"/>
            <p:nvPr/>
          </p:nvSpPr>
          <p:spPr>
            <a:xfrm>
              <a:off x="10497116" y="443865"/>
              <a:ext cx="95193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300" b="1" dirty="0">
                  <a:gradFill>
                    <a:gsLst>
                      <a:gs pos="0">
                        <a:srgbClr val="FF6B8A"/>
                      </a:gs>
                      <a:gs pos="55000">
                        <a:srgbClr val="FF8C6B"/>
                      </a:gs>
                      <a:gs pos="100000">
                        <a:srgbClr val="FFD479"/>
                      </a:gs>
                    </a:gsLst>
                    <a:lin ang="2700000" scaled="1"/>
                  </a:gradFill>
                  <a:effectLst>
                    <a:glow rad="95250">
                      <a:srgbClr val="FF6B8A">
                        <a:alpha val="45000"/>
                      </a:srgbClr>
                    </a:glow>
                  </a:effectLst>
                  <a:latin typeface="Segoe UI"/>
                  <a:ea typeface="Segoe UI"/>
                  <a:cs typeface="Segoe UI"/>
                </a:rPr>
                <a:t>5</a:t>
              </a:r>
              <a:r>
                <a:rPr lang="zh-CN" sz="3000" b="1" dirty="0">
                  <a:gradFill>
                    <a:gsLst>
                      <a:gs pos="0">
                        <a:srgbClr val="FF6B8A"/>
                      </a:gs>
                      <a:gs pos="55000">
                        <a:srgbClr val="FF8C6B"/>
                      </a:gs>
                      <a:gs pos="100000">
                        <a:srgbClr val="FFD479"/>
                      </a:gs>
                    </a:gsLst>
                    <a:lin ang="2700000" scaled="1"/>
                  </a:gradFill>
                  <a:effectLst>
                    <a:glow rad="95250">
                      <a:srgbClr val="FF6B8A">
                        <a:alpha val="45000"/>
                      </a:srgbClr>
                    </a:glow>
                  </a:effectLst>
                  <a:latin typeface="Segoe UI"/>
                  <a:ea typeface="Microsoft YaHei"/>
                  <a:cs typeface="Segoe UI"/>
                </a:rPr>
                <a:t>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60876" y="1299210"/>
              <a:ext cx="1375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spc="75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单笔记账目标耗时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771650"/>
            <a:ext cx="3429000" cy="2552700"/>
            <a:chOff x="762000" y="1771650"/>
            <a:chExt cx="3429000" cy="2552700"/>
          </a:xfrm>
        </p:grpSpPr>
        <p:sp>
          <p:nvSpPr>
            <p:cNvPr id="12" name="Rectangle 12"/>
            <p:cNvSpPr/>
            <p:nvPr/>
          </p:nvSpPr>
          <p:spPr>
            <a:xfrm>
              <a:off x="762000" y="1771650"/>
              <a:ext cx="3429000" cy="2552700"/>
            </a:xfrm>
            <a:prstGeom prst="roundRect">
              <a:avLst>
                <a:gd name="adj" fmla="val 6716"/>
              </a:avLst>
            </a:prstGeom>
            <a:solidFill>
              <a:srgbClr val="2E2238"/>
            </a:solidFill>
            <a:ln w="14288">
              <a:solidFill>
                <a:srgbClr val="FF6B8A">
                  <a:alpha val="5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048000" y="1962150"/>
              <a:ext cx="952500" cy="285750"/>
            </a:xfrm>
            <a:prstGeom prst="roundRect">
              <a:avLst>
                <a:gd name="adj" fmla="val 50000"/>
              </a:avLst>
            </a:prstGeom>
            <a:solidFill>
              <a:srgbClr val="FFD47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20985" y="2040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320"/>
                  </a:solidFill>
                  <a:latin typeface="Segoe UI"/>
                  <a:ea typeface="Microsoft YaHei"/>
                  <a:cs typeface="Segoe UI"/>
                </a:rPr>
                <a:t>核心护城河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95350" y="2038350"/>
              <a:ext cx="571500" cy="571500"/>
            </a:xfrm>
            <a:prstGeom prst="ellipse">
              <a:avLst/>
            </a:prstGeom>
            <a:solidFill>
              <a:srgbClr val="FF6B8A">
                <a:alpha val="16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053381" y="2165350"/>
              <a:ext cx="255438" cy="323390"/>
            </a:xfrm>
            <a:custGeom>
              <a:avLst/>
              <a:gdLst/>
              <a:ahLst/>
              <a:cxnLst/>
              <a:rect l="l" t="t" r="r" b="b"/>
              <a:pathLst>
                <a:path w="255438" h="323390">
                  <a:moveTo>
                    <a:pt x="143594" y="0"/>
                  </a:moveTo>
                  <a:lnTo>
                    <a:pt x="143880" y="16"/>
                  </a:lnTo>
                  <a:lnTo>
                    <a:pt x="144134" y="32"/>
                  </a:lnTo>
                  <a:lnTo>
                    <a:pt x="145451" y="111"/>
                  </a:lnTo>
                  <a:lnTo>
                    <a:pt x="145626" y="143"/>
                  </a:lnTo>
                  <a:lnTo>
                    <a:pt x="145801" y="143"/>
                  </a:lnTo>
                  <a:lnTo>
                    <a:pt x="146404" y="286"/>
                  </a:lnTo>
                  <a:lnTo>
                    <a:pt x="147229" y="413"/>
                  </a:lnTo>
                  <a:lnTo>
                    <a:pt x="147483" y="508"/>
                  </a:lnTo>
                  <a:lnTo>
                    <a:pt x="147658" y="524"/>
                  </a:lnTo>
                  <a:lnTo>
                    <a:pt x="148118" y="699"/>
                  </a:lnTo>
                  <a:lnTo>
                    <a:pt x="148944" y="921"/>
                  </a:lnTo>
                  <a:lnTo>
                    <a:pt x="149246" y="1064"/>
                  </a:lnTo>
                  <a:lnTo>
                    <a:pt x="149484" y="1127"/>
                  </a:lnTo>
                  <a:lnTo>
                    <a:pt x="149928" y="1349"/>
                  </a:lnTo>
                  <a:lnTo>
                    <a:pt x="150563" y="1619"/>
                  </a:lnTo>
                  <a:lnTo>
                    <a:pt x="150897" y="1810"/>
                  </a:lnTo>
                  <a:lnTo>
                    <a:pt x="151246" y="1969"/>
                  </a:lnTo>
                  <a:lnTo>
                    <a:pt x="151611" y="2207"/>
                  </a:lnTo>
                  <a:lnTo>
                    <a:pt x="152103" y="2477"/>
                  </a:lnTo>
                  <a:lnTo>
                    <a:pt x="152643" y="2858"/>
                  </a:lnTo>
                  <a:lnTo>
                    <a:pt x="152929" y="3032"/>
                  </a:lnTo>
                  <a:lnTo>
                    <a:pt x="153135" y="3223"/>
                  </a:lnTo>
                  <a:lnTo>
                    <a:pt x="153516" y="3493"/>
                  </a:lnTo>
                  <a:lnTo>
                    <a:pt x="154119" y="4032"/>
                  </a:lnTo>
                  <a:lnTo>
                    <a:pt x="154468" y="4302"/>
                  </a:lnTo>
                  <a:lnTo>
                    <a:pt x="154595" y="4461"/>
                  </a:lnTo>
                  <a:lnTo>
                    <a:pt x="154818" y="4651"/>
                  </a:lnTo>
                  <a:lnTo>
                    <a:pt x="155389" y="5302"/>
                  </a:lnTo>
                  <a:lnTo>
                    <a:pt x="155802" y="5731"/>
                  </a:lnTo>
                  <a:lnTo>
                    <a:pt x="155897" y="5874"/>
                  </a:lnTo>
                  <a:cubicBezTo>
                    <a:pt x="157802" y="8207"/>
                    <a:pt x="159009" y="10986"/>
                    <a:pt x="159358" y="14018"/>
                  </a:cubicBezTo>
                  <a:lnTo>
                    <a:pt x="159374" y="14208"/>
                  </a:lnTo>
                  <a:lnTo>
                    <a:pt x="159406" y="14859"/>
                  </a:lnTo>
                  <a:lnTo>
                    <a:pt x="159469" y="15875"/>
                  </a:lnTo>
                  <a:lnTo>
                    <a:pt x="159469" y="111125"/>
                  </a:lnTo>
                  <a:lnTo>
                    <a:pt x="238844" y="111125"/>
                  </a:lnTo>
                  <a:cubicBezTo>
                    <a:pt x="244507" y="111124"/>
                    <a:pt x="249741" y="114139"/>
                    <a:pt x="252582" y="119037"/>
                  </a:cubicBezTo>
                  <a:cubicBezTo>
                    <a:pt x="255422" y="123936"/>
                    <a:pt x="255438" y="129977"/>
                    <a:pt x="252624" y="134890"/>
                  </a:cubicBezTo>
                  <a:lnTo>
                    <a:pt x="251671" y="136335"/>
                  </a:lnTo>
                  <a:lnTo>
                    <a:pt x="124671" y="310960"/>
                  </a:lnTo>
                  <a:cubicBezTo>
                    <a:pt x="115654" y="323390"/>
                    <a:pt x="95969" y="316993"/>
                    <a:pt x="95969" y="301626"/>
                  </a:cubicBezTo>
                  <a:lnTo>
                    <a:pt x="95969" y="206375"/>
                  </a:lnTo>
                  <a:lnTo>
                    <a:pt x="16594" y="206375"/>
                  </a:lnTo>
                  <a:cubicBezTo>
                    <a:pt x="10931" y="206377"/>
                    <a:pt x="5697" y="203362"/>
                    <a:pt x="2856" y="198463"/>
                  </a:cubicBezTo>
                  <a:cubicBezTo>
                    <a:pt x="16" y="193565"/>
                    <a:pt x="0" y="187524"/>
                    <a:pt x="2814" y="182610"/>
                  </a:cubicBezTo>
                  <a:lnTo>
                    <a:pt x="3767" y="181166"/>
                  </a:lnTo>
                  <a:lnTo>
                    <a:pt x="130767" y="6541"/>
                  </a:lnTo>
                  <a:lnTo>
                    <a:pt x="130926" y="6334"/>
                  </a:lnTo>
                  <a:lnTo>
                    <a:pt x="131212" y="5953"/>
                  </a:lnTo>
                  <a:lnTo>
                    <a:pt x="131735" y="5350"/>
                  </a:lnTo>
                  <a:lnTo>
                    <a:pt x="132021" y="5001"/>
                  </a:lnTo>
                  <a:lnTo>
                    <a:pt x="132164" y="4874"/>
                  </a:lnTo>
                  <a:lnTo>
                    <a:pt x="132370" y="4651"/>
                  </a:lnTo>
                  <a:lnTo>
                    <a:pt x="133005" y="4080"/>
                  </a:lnTo>
                  <a:lnTo>
                    <a:pt x="133450" y="3667"/>
                  </a:lnTo>
                  <a:lnTo>
                    <a:pt x="133577" y="3572"/>
                  </a:lnTo>
                  <a:cubicBezTo>
                    <a:pt x="135437" y="2049"/>
                    <a:pt x="137620" y="969"/>
                    <a:pt x="139959" y="413"/>
                  </a:cubicBezTo>
                  <a:lnTo>
                    <a:pt x="140133" y="397"/>
                  </a:lnTo>
                  <a:lnTo>
                    <a:pt x="140562" y="318"/>
                  </a:lnTo>
                  <a:lnTo>
                    <a:pt x="141737" y="111"/>
                  </a:lnTo>
                  <a:lnTo>
                    <a:pt x="141911" y="95"/>
                  </a:lnTo>
                  <a:lnTo>
                    <a:pt x="142562" y="64"/>
                  </a:lnTo>
                  <a:close/>
                </a:path>
              </a:pathLst>
            </a:custGeom>
            <a:solidFill>
              <a:srgbClr val="FF6B8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6132" y="2802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极致的快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0323" y="3310414"/>
              <a:ext cx="2603754" cy="7827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「一镜直达」首页，金额→分类→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保存三步搞定。打开即聚焦输入框，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比任何竞品都快。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81500" y="1771650"/>
            <a:ext cx="3429000" cy="2552700"/>
            <a:chOff x="4381500" y="1771650"/>
            <a:chExt cx="3429000" cy="2552700"/>
          </a:xfrm>
        </p:grpSpPr>
        <p:sp>
          <p:nvSpPr>
            <p:cNvPr id="20" name="Rectangle 20"/>
            <p:cNvSpPr/>
            <p:nvPr/>
          </p:nvSpPr>
          <p:spPr>
            <a:xfrm>
              <a:off x="4381500" y="1771650"/>
              <a:ext cx="3429000" cy="2552700"/>
            </a:xfrm>
            <a:prstGeom prst="roundRect">
              <a:avLst>
                <a:gd name="adj" fmla="val 6716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514850" y="2038350"/>
              <a:ext cx="571500" cy="571500"/>
            </a:xfrm>
            <a:prstGeom prst="ellipse">
              <a:avLst/>
            </a:prstGeom>
            <a:solidFill>
              <a:srgbClr val="FF8C6B">
                <a:alpha val="16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4635297" y="2177551"/>
              <a:ext cx="330178" cy="290979"/>
            </a:xfrm>
            <a:custGeom>
              <a:avLst/>
              <a:gdLst/>
              <a:ahLst/>
              <a:cxnLst/>
              <a:rect l="l" t="t" r="r" b="b"/>
              <a:pathLst>
                <a:path w="330178" h="290979">
                  <a:moveTo>
                    <a:pt x="85594" y="4849"/>
                  </a:moveTo>
                  <a:cubicBezTo>
                    <a:pt x="114054" y="0"/>
                    <a:pt x="143176" y="8320"/>
                    <a:pt x="164779" y="27471"/>
                  </a:cubicBezTo>
                  <a:lnTo>
                    <a:pt x="165367" y="27995"/>
                  </a:lnTo>
                  <a:lnTo>
                    <a:pt x="165906" y="27519"/>
                  </a:lnTo>
                  <a:cubicBezTo>
                    <a:pt x="186499" y="9447"/>
                    <a:pt x="213875" y="1118"/>
                    <a:pt x="241043" y="4659"/>
                  </a:cubicBezTo>
                  <a:lnTo>
                    <a:pt x="244948" y="5230"/>
                  </a:lnTo>
                  <a:cubicBezTo>
                    <a:pt x="279434" y="11184"/>
                    <a:pt x="307878" y="35571"/>
                    <a:pt x="319028" y="68743"/>
                  </a:cubicBezTo>
                  <a:cubicBezTo>
                    <a:pt x="330178" y="101916"/>
                    <a:pt x="322240" y="138532"/>
                    <a:pt x="298352" y="164107"/>
                  </a:cubicBezTo>
                  <a:lnTo>
                    <a:pt x="295494" y="167044"/>
                  </a:lnTo>
                  <a:lnTo>
                    <a:pt x="294732" y="167695"/>
                  </a:lnTo>
                  <a:lnTo>
                    <a:pt x="176463" y="284837"/>
                  </a:lnTo>
                  <a:cubicBezTo>
                    <a:pt x="170819" y="290423"/>
                    <a:pt x="161915" y="290979"/>
                    <a:pt x="155619" y="286139"/>
                  </a:cubicBezTo>
                  <a:lnTo>
                    <a:pt x="154127" y="284837"/>
                  </a:lnTo>
                  <a:lnTo>
                    <a:pt x="35175" y="167012"/>
                  </a:lnTo>
                  <a:cubicBezTo>
                    <a:pt x="9480" y="142011"/>
                    <a:pt x="0" y="104700"/>
                    <a:pt x="10644" y="70466"/>
                  </a:cubicBezTo>
                  <a:cubicBezTo>
                    <a:pt x="21288" y="36231"/>
                    <a:pt x="50253" y="10873"/>
                    <a:pt x="85594" y="4849"/>
                  </a:cubicBezTo>
                  <a:close/>
                </a:path>
              </a:pathLst>
            </a:custGeom>
            <a:solidFill>
              <a:srgbClr val="FF8C6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75632" y="2802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足够的轻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79823" y="3310414"/>
              <a:ext cx="2603754" cy="7827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无广告、不绑生态、零学习成本。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粉嫩温暖的调性，让记账从「负担」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变成愉悦的小习惯。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001000" y="1771650"/>
            <a:ext cx="3429000" cy="2552700"/>
            <a:chOff x="8001000" y="1771650"/>
            <a:chExt cx="3429000" cy="2552700"/>
          </a:xfrm>
        </p:grpSpPr>
        <p:sp>
          <p:nvSpPr>
            <p:cNvPr id="26" name="Rectangle 26"/>
            <p:cNvSpPr/>
            <p:nvPr/>
          </p:nvSpPr>
          <p:spPr>
            <a:xfrm>
              <a:off x="8001000" y="1771650"/>
              <a:ext cx="3429000" cy="2552700"/>
            </a:xfrm>
            <a:prstGeom prst="roundRect">
              <a:avLst>
                <a:gd name="adj" fmla="val 6716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134350" y="2038350"/>
              <a:ext cx="571500" cy="571500"/>
            </a:xfrm>
            <a:prstGeom prst="ellipse">
              <a:avLst/>
            </a:prstGeom>
            <a:solidFill>
              <a:srgbClr val="FFD479">
                <a:alpha val="16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293100" y="2144220"/>
              <a:ext cx="254001" cy="338630"/>
            </a:xfrm>
            <a:custGeom>
              <a:avLst/>
              <a:gdLst/>
              <a:ahLst/>
              <a:cxnLst/>
              <a:rect l="l" t="t" r="r" b="b"/>
              <a:pathLst>
                <a:path w="254001" h="338630">
                  <a:moveTo>
                    <a:pt x="95250" y="21130"/>
                  </a:moveTo>
                  <a:cubicBezTo>
                    <a:pt x="95250" y="7160"/>
                    <a:pt x="112014" y="0"/>
                    <a:pt x="122111" y="9668"/>
                  </a:cubicBezTo>
                  <a:cubicBezTo>
                    <a:pt x="153194" y="39449"/>
                    <a:pt x="171260" y="104839"/>
                    <a:pt x="149892" y="154448"/>
                  </a:cubicBezTo>
                  <a:lnTo>
                    <a:pt x="148622" y="157210"/>
                  </a:lnTo>
                  <a:lnTo>
                    <a:pt x="148813" y="157258"/>
                  </a:lnTo>
                  <a:cubicBezTo>
                    <a:pt x="158734" y="159369"/>
                    <a:pt x="167910" y="150432"/>
                    <a:pt x="185373" y="122762"/>
                  </a:cubicBezTo>
                  <a:lnTo>
                    <a:pt x="187595" y="119206"/>
                  </a:lnTo>
                  <a:cubicBezTo>
                    <a:pt x="190206" y="115003"/>
                    <a:pt x="194627" y="112258"/>
                    <a:pt x="199552" y="111781"/>
                  </a:cubicBezTo>
                  <a:cubicBezTo>
                    <a:pt x="204477" y="111305"/>
                    <a:pt x="209342" y="113152"/>
                    <a:pt x="212710" y="116777"/>
                  </a:cubicBezTo>
                  <a:cubicBezTo>
                    <a:pt x="233887" y="139557"/>
                    <a:pt x="254001" y="186262"/>
                    <a:pt x="254001" y="216313"/>
                  </a:cubicBezTo>
                  <a:cubicBezTo>
                    <a:pt x="254001" y="284020"/>
                    <a:pt x="196993" y="338630"/>
                    <a:pt x="127000" y="338630"/>
                  </a:cubicBezTo>
                  <a:cubicBezTo>
                    <a:pt x="57007" y="338630"/>
                    <a:pt x="0" y="284020"/>
                    <a:pt x="0" y="216297"/>
                  </a:cubicBezTo>
                  <a:cubicBezTo>
                    <a:pt x="0" y="180547"/>
                    <a:pt x="16224" y="141431"/>
                    <a:pt x="41783" y="116269"/>
                  </a:cubicBezTo>
                  <a:lnTo>
                    <a:pt x="51387" y="106918"/>
                  </a:lnTo>
                  <a:cubicBezTo>
                    <a:pt x="55213" y="103172"/>
                    <a:pt x="58277" y="100092"/>
                    <a:pt x="61198" y="97012"/>
                  </a:cubicBezTo>
                  <a:cubicBezTo>
                    <a:pt x="83900" y="73009"/>
                    <a:pt x="95250" y="50594"/>
                    <a:pt x="95250" y="21130"/>
                  </a:cubicBezTo>
                </a:path>
              </a:pathLst>
            </a:custGeom>
            <a:solidFill>
              <a:srgbClr val="FFD47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95132" y="28022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留得住的黏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9323" y="3310414"/>
              <a:ext cx="2441829" cy="7827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连续打卡＋每周账单＋餐饮复盘，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用习惯养成机制，直击行业最痛的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「留存」难题。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4629150"/>
            <a:ext cx="10668000" cy="1352550"/>
            <a:chOff x="762000" y="4629150"/>
            <a:chExt cx="10668000" cy="1352550"/>
          </a:xfrm>
        </p:grpSpPr>
        <p:sp>
          <p:nvSpPr>
            <p:cNvPr id="32" name="Rectangle 32"/>
            <p:cNvSpPr/>
            <p:nvPr/>
          </p:nvSpPr>
          <p:spPr>
            <a:xfrm>
              <a:off x="762000" y="4629150"/>
              <a:ext cx="10668000" cy="1352550"/>
            </a:xfrm>
            <a:prstGeom prst="roundRect">
              <a:avLst>
                <a:gd name="adj" fmla="val 11268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429000" y="491490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9525">
              <a:solidFill>
                <a:srgbClr val="3A2C44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096000" y="491490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9525">
              <a:solidFill>
                <a:srgbClr val="3A2C4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763000" y="491490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9525">
              <a:solidFill>
                <a:srgbClr val="3A2C4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39145" y="4986338"/>
              <a:ext cx="912709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750" b="1" dirty="0">
                  <a:gradFill>
                    <a:gsLst>
                      <a:gs pos="0">
                        <a:srgbClr val="FF6B8A"/>
                      </a:gs>
                      <a:gs pos="100000">
                        <a:srgbClr val="FFD479"/>
                      </a:gs>
                    </a:gsLst>
                    <a:lin ang="0" scaled="1"/>
                  </a:gradFill>
                  <a:latin typeface="Segoe UI"/>
                  <a:ea typeface="Segoe UI"/>
                  <a:cs typeface="Segoe UI"/>
                </a:rPr>
                <a:t>&lt;5s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45742" y="557736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单笔记账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07370" y="4986338"/>
              <a:ext cx="1310259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750" b="1" dirty="0">
                  <a:gradFill>
                    <a:gsLst>
                      <a:gs pos="0">
                        <a:srgbClr val="FF6B8A"/>
                      </a:gs>
                      <a:gs pos="100000">
                        <a:srgbClr val="FFD479"/>
                      </a:gs>
                    </a:gsLst>
                    <a:lin ang="0" scaled="1"/>
                  </a:gradFill>
                  <a:latin typeface="Segoe UI"/>
                  <a:ea typeface="Segoe UI"/>
                  <a:cs typeface="Segoe UI"/>
                </a:rPr>
                <a:t>&gt;40%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41102" y="557736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次日留存目标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53880" y="4986338"/>
              <a:ext cx="1151239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gradFill>
                    <a:gsLst>
                      <a:gs pos="0">
                        <a:srgbClr val="FF6B8A"/>
                      </a:gs>
                      <a:gs pos="100000">
                        <a:srgbClr val="FFD479"/>
                      </a:gs>
                    </a:gsLst>
                    <a:lin ang="0" scaled="1"/>
                  </a:gradFill>
                  <a:latin typeface="Segoe UI"/>
                  <a:ea typeface="Microsoft YaHei"/>
                  <a:cs typeface="Segoe UI"/>
                </a:rPr>
                <a:t>≥2笔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93922" y="557736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人均日记账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31682" y="4986338"/>
              <a:ext cx="329636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750" b="1" dirty="0">
                  <a:gradFill>
                    <a:gsLst>
                      <a:gs pos="0">
                        <a:srgbClr val="FF6B8A"/>
                      </a:gs>
                      <a:gs pos="100000">
                        <a:srgbClr val="FFD479"/>
                      </a:gs>
                    </a:gsLst>
                    <a:lin ang="0" scaled="1"/>
                  </a:gradFill>
                  <a:latin typeface="Segoe UI"/>
                  <a:ea typeface="Segoe UI"/>
                  <a:cs typeface="Segoe UI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48049" y="5577364"/>
              <a:ext cx="8969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广告 · 干扰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6285" y="6317456"/>
            <a:ext cx="10679430" cy="220028"/>
            <a:chOff x="756285" y="6317456"/>
            <a:chExt cx="10679430" cy="220028"/>
          </a:xfrm>
        </p:grpSpPr>
        <p:sp>
          <p:nvSpPr>
            <p:cNvPr id="45" name="TextBox 45"/>
            <p:cNvSpPr txBox="1"/>
            <p:nvPr/>
          </p:nvSpPr>
          <p:spPr>
            <a:xfrm>
              <a:off x="756285" y="6317456"/>
              <a:ext cx="154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6076"/>
                  </a:solidFill>
                  <a:latin typeface="Segoe UI"/>
                  <a:ea typeface="Microsoft YaHei"/>
                  <a:cs typeface="Segoe UI"/>
                </a:rPr>
                <a:t>每日记账 · 投资人路演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16936" y="6317456"/>
              <a:ext cx="518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E6076"/>
                  </a:solidFill>
                  <a:latin typeface="Segoe UI"/>
                  <a:ea typeface="Segoe UI"/>
                  <a:cs typeface="Segoe UI"/>
                </a:rPr>
                <a:t>03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1143000" y="-1714500"/>
            <a:ext cx="13335000" cy="8572500"/>
            <a:chOff x="-1143000" y="-1714500"/>
            <a:chExt cx="1333500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1320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1143000" y="-1714500"/>
              <a:ext cx="5715000" cy="5715000"/>
            </a:xfrm>
            <a:prstGeom prst="ellipse">
              <a:avLst/>
            </a:prstGeom>
            <a:gradFill>
              <a:gsLst>
                <a:gs pos="0">
                  <a:srgbClr val="7CE7C0">
                    <a:alpha val="16000"/>
                  </a:srgbClr>
                </a:gs>
                <a:gs pos="100000">
                  <a:srgbClr val="7CE7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5236" y="673418"/>
            <a:ext cx="6563944" cy="949261"/>
            <a:chOff x="745236" y="673418"/>
            <a:chExt cx="6563944" cy="949261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673418"/>
              <a:ext cx="37126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FF6B8A"/>
                  </a:solidFill>
                  <a:latin typeface="Segoe UI"/>
                  <a:ea typeface="Microsoft YaHei"/>
                  <a:cs typeface="Segoe UI"/>
                </a:rPr>
                <a:t>产品与进展 · PRODUCT &amp; TRACTION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236" y="977265"/>
              <a:ext cx="6563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三端已落地，核心链路</a:t>
              </a:r>
              <a:r>
                <a:rPr lang="zh-CN" sz="3300" b="1" dirty="0">
                  <a:solidFill>
                    <a:srgbClr val="7CE7C0"/>
                  </a:solidFill>
                  <a:latin typeface="Segoe UI"/>
                  <a:ea typeface="Microsoft YaHei"/>
                  <a:cs typeface="Segoe UI"/>
                </a:rPr>
                <a:t>真实可跑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4380" y="1729283"/>
            <a:ext cx="6103620" cy="2633167"/>
            <a:chOff x="754380" y="1729283"/>
            <a:chExt cx="6103620" cy="2633167"/>
          </a:xfrm>
        </p:grpSpPr>
        <p:sp>
          <p:nvSpPr>
            <p:cNvPr id="8" name="TextBox 8"/>
            <p:cNvSpPr txBox="1"/>
            <p:nvPr/>
          </p:nvSpPr>
          <p:spPr>
            <a:xfrm>
              <a:off x="754380" y="17430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CE7C0"/>
                  </a:solidFill>
                  <a:latin typeface="Segoe UI"/>
                  <a:ea typeface="Microsoft YaHei"/>
                  <a:cs typeface="Segoe UI"/>
                </a:rPr>
                <a:t>已实现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543050" y="1729283"/>
              <a:ext cx="200311" cy="200639"/>
            </a:xfrm>
            <a:custGeom>
              <a:avLst/>
              <a:gdLst/>
              <a:ahLst/>
              <a:cxnLst/>
              <a:rect l="l" t="t" r="r" b="b"/>
              <a:pathLst>
                <a:path w="200311" h="200639">
                  <a:moveTo>
                    <a:pt x="142875" y="17030"/>
                  </a:moveTo>
                  <a:cubicBezTo>
                    <a:pt x="182569" y="39949"/>
                    <a:pt x="200311" y="87890"/>
                    <a:pt x="185099" y="131128"/>
                  </a:cubicBezTo>
                  <a:cubicBezTo>
                    <a:pt x="169888" y="174367"/>
                    <a:pt x="126037" y="200639"/>
                    <a:pt x="80736" y="193656"/>
                  </a:cubicBezTo>
                  <a:cubicBezTo>
                    <a:pt x="35435" y="186673"/>
                    <a:pt x="1532" y="148415"/>
                    <a:pt x="48" y="102603"/>
                  </a:cubicBezTo>
                  <a:lnTo>
                    <a:pt x="0" y="99517"/>
                  </a:lnTo>
                  <a:lnTo>
                    <a:pt x="48" y="96431"/>
                  </a:lnTo>
                  <a:cubicBezTo>
                    <a:pt x="1133" y="62969"/>
                    <a:pt x="19706" y="32534"/>
                    <a:pt x="48967" y="16267"/>
                  </a:cubicBezTo>
                  <a:cubicBezTo>
                    <a:pt x="78228" y="0"/>
                    <a:pt x="113882" y="290"/>
                    <a:pt x="142875" y="17030"/>
                  </a:cubicBezTo>
                  <a:close/>
                  <a:moveTo>
                    <a:pt x="130559" y="73732"/>
                  </a:moveTo>
                  <a:cubicBezTo>
                    <a:pt x="127166" y="70339"/>
                    <a:pt x="121778" y="70001"/>
                    <a:pt x="117986" y="72942"/>
                  </a:cubicBezTo>
                  <a:lnTo>
                    <a:pt x="117091" y="73732"/>
                  </a:lnTo>
                  <a:lnTo>
                    <a:pt x="85725" y="105089"/>
                  </a:lnTo>
                  <a:lnTo>
                    <a:pt x="73409" y="92782"/>
                  </a:lnTo>
                  <a:lnTo>
                    <a:pt x="72514" y="91992"/>
                  </a:lnTo>
                  <a:cubicBezTo>
                    <a:pt x="68722" y="89053"/>
                    <a:pt x="63336" y="89392"/>
                    <a:pt x="59943" y="92785"/>
                  </a:cubicBezTo>
                  <a:cubicBezTo>
                    <a:pt x="56551" y="96177"/>
                    <a:pt x="56211" y="101564"/>
                    <a:pt x="59150" y="105355"/>
                  </a:cubicBezTo>
                  <a:lnTo>
                    <a:pt x="59941" y="106251"/>
                  </a:lnTo>
                  <a:lnTo>
                    <a:pt x="78991" y="125301"/>
                  </a:lnTo>
                  <a:lnTo>
                    <a:pt x="79886" y="126091"/>
                  </a:lnTo>
                  <a:cubicBezTo>
                    <a:pt x="83322" y="128757"/>
                    <a:pt x="88128" y="128757"/>
                    <a:pt x="91564" y="126091"/>
                  </a:cubicBezTo>
                  <a:lnTo>
                    <a:pt x="92459" y="125301"/>
                  </a:lnTo>
                  <a:lnTo>
                    <a:pt x="130559" y="87201"/>
                  </a:lnTo>
                  <a:lnTo>
                    <a:pt x="131350" y="86305"/>
                  </a:lnTo>
                  <a:cubicBezTo>
                    <a:pt x="134291" y="82514"/>
                    <a:pt x="133952" y="77126"/>
                    <a:pt x="130559" y="73732"/>
                  </a:cubicBezTo>
                  <a:close/>
                </a:path>
              </a:pathLst>
            </a:custGeom>
            <a:solidFill>
              <a:srgbClr val="7CE7C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2095500"/>
              <a:ext cx="6096000" cy="495300"/>
            </a:xfrm>
            <a:prstGeom prst="roundRect">
              <a:avLst>
                <a:gd name="adj" fmla="val 2307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00125" y="2295525"/>
              <a:ext cx="95250" cy="95250"/>
            </a:xfrm>
            <a:prstGeom prst="ellipse">
              <a:avLst/>
            </a:prstGeom>
            <a:solidFill>
              <a:srgbClr val="7CE7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49680" y="2247900"/>
              <a:ext cx="3663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 xml:space="preserve">注册 / 登录 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JWT + bcrypt 加密，7 天免登录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686050"/>
              <a:ext cx="6096000" cy="495300"/>
            </a:xfrm>
            <a:prstGeom prst="roundRect">
              <a:avLst>
                <a:gd name="adj" fmla="val 2307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00125" y="2886075"/>
              <a:ext cx="95250" cy="95250"/>
            </a:xfrm>
            <a:prstGeom prst="ellipse">
              <a:avLst/>
            </a:prstGeom>
            <a:solidFill>
              <a:srgbClr val="7CE7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49680" y="2838450"/>
              <a:ext cx="3562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 xml:space="preserve">快速记账 · 分类管理 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10 预置 + 自定义分类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276600"/>
              <a:ext cx="6096000" cy="495300"/>
            </a:xfrm>
            <a:prstGeom prst="roundRect">
              <a:avLst>
                <a:gd name="adj" fmla="val 2307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00125" y="3476625"/>
              <a:ext cx="95250" cy="95250"/>
            </a:xfrm>
            <a:prstGeom prst="ellipse">
              <a:avLst/>
            </a:prstGeom>
            <a:solidFill>
              <a:srgbClr val="7CE7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49680" y="3429000"/>
              <a:ext cx="3458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 xml:space="preserve">交易记录 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按日分组、搜索、分类筛选、分页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867150"/>
              <a:ext cx="6096000" cy="495300"/>
            </a:xfrm>
            <a:prstGeom prst="roundRect">
              <a:avLst>
                <a:gd name="adj" fmla="val 2307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000125" y="4067175"/>
              <a:ext cx="95250" cy="95250"/>
            </a:xfrm>
            <a:prstGeom prst="ellipse">
              <a:avLst/>
            </a:prstGeom>
            <a:solidFill>
              <a:srgbClr val="7CE7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49680" y="4019550"/>
              <a:ext cx="38359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 xml:space="preserve">餐饮分析 · 统计图表 </a:t>
              </a:r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SVG 趋势图、分类占比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4380" y="4578353"/>
            <a:ext cx="6103620" cy="850897"/>
            <a:chOff x="754380" y="4578353"/>
            <a:chExt cx="6103620" cy="850897"/>
          </a:xfrm>
        </p:grpSpPr>
        <p:sp>
          <p:nvSpPr>
            <p:cNvPr id="23" name="TextBox 23"/>
            <p:cNvSpPr txBox="1"/>
            <p:nvPr/>
          </p:nvSpPr>
          <p:spPr>
            <a:xfrm>
              <a:off x="754380" y="45815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479"/>
                  </a:solidFill>
                  <a:latin typeface="Segoe UI"/>
                  <a:ea typeface="Microsoft YaHei"/>
                  <a:cs typeface="Segoe UI"/>
                </a:rPr>
                <a:t>规划中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539878" y="4578353"/>
              <a:ext cx="187319" cy="177794"/>
              <a:chOff x="1539878" y="4578353"/>
              <a:chExt cx="187319" cy="17779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666875" y="4692653"/>
                <a:ext cx="60322" cy="63494"/>
              </a:xfrm>
              <a:custGeom>
                <a:avLst/>
                <a:gdLst/>
                <a:ahLst/>
                <a:cxnLst/>
                <a:rect l="l" t="t" r="r" b="b"/>
                <a:pathLst>
                  <a:path w="60322" h="63494">
                    <a:moveTo>
                      <a:pt x="9525" y="41272"/>
                    </a:moveTo>
                    <a:cubicBezTo>
                      <a:pt x="4264" y="41272"/>
                      <a:pt x="0" y="37007"/>
                      <a:pt x="0" y="31747"/>
                    </a:cubicBezTo>
                    <a:cubicBezTo>
                      <a:pt x="0" y="26486"/>
                      <a:pt x="4264" y="22222"/>
                      <a:pt x="9525" y="22222"/>
                    </a:cubicBezTo>
                    <a:cubicBezTo>
                      <a:pt x="14786" y="22222"/>
                      <a:pt x="19050" y="17957"/>
                      <a:pt x="19050" y="12697"/>
                    </a:cubicBezTo>
                    <a:cubicBezTo>
                      <a:pt x="19050" y="0"/>
                      <a:pt x="38100" y="0"/>
                      <a:pt x="38100" y="12697"/>
                    </a:cubicBezTo>
                    <a:cubicBezTo>
                      <a:pt x="38100" y="17957"/>
                      <a:pt x="42364" y="22222"/>
                      <a:pt x="47625" y="22222"/>
                    </a:cubicBezTo>
                    <a:cubicBezTo>
                      <a:pt x="60322" y="22222"/>
                      <a:pt x="60322" y="41272"/>
                      <a:pt x="47625" y="41272"/>
                    </a:cubicBezTo>
                    <a:cubicBezTo>
                      <a:pt x="42364" y="41272"/>
                      <a:pt x="38100" y="45536"/>
                      <a:pt x="38100" y="50797"/>
                    </a:cubicBezTo>
                    <a:cubicBezTo>
                      <a:pt x="38100" y="63494"/>
                      <a:pt x="19050" y="63494"/>
                      <a:pt x="19050" y="50797"/>
                    </a:cubicBezTo>
                    <a:cubicBezTo>
                      <a:pt x="19050" y="45536"/>
                      <a:pt x="14786" y="41272"/>
                      <a:pt x="9525" y="41272"/>
                    </a:cubicBezTo>
                  </a:path>
                </a:pathLst>
              </a:custGeom>
              <a:solidFill>
                <a:srgbClr val="FFD479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539878" y="4597403"/>
                <a:ext cx="139694" cy="136522"/>
              </a:xfrm>
              <a:custGeom>
                <a:avLst/>
                <a:gdLst/>
                <a:ahLst/>
                <a:cxnLst/>
                <a:rect l="l" t="t" r="r" b="b"/>
                <a:pathLst>
                  <a:path w="139694" h="136522">
                    <a:moveTo>
                      <a:pt x="12697" y="60322"/>
                    </a:moveTo>
                    <a:cubicBezTo>
                      <a:pt x="38999" y="60322"/>
                      <a:pt x="60322" y="38999"/>
                      <a:pt x="60322" y="12697"/>
                    </a:cubicBezTo>
                    <a:cubicBezTo>
                      <a:pt x="60322" y="0"/>
                      <a:pt x="79372" y="0"/>
                      <a:pt x="79372" y="12697"/>
                    </a:cubicBezTo>
                    <a:cubicBezTo>
                      <a:pt x="79372" y="38999"/>
                      <a:pt x="100694" y="60322"/>
                      <a:pt x="126997" y="60322"/>
                    </a:cubicBezTo>
                    <a:cubicBezTo>
                      <a:pt x="139694" y="60322"/>
                      <a:pt x="139694" y="79372"/>
                      <a:pt x="126997" y="79372"/>
                    </a:cubicBezTo>
                    <a:cubicBezTo>
                      <a:pt x="100694" y="79372"/>
                      <a:pt x="79372" y="100694"/>
                      <a:pt x="79372" y="126997"/>
                    </a:cubicBezTo>
                    <a:cubicBezTo>
                      <a:pt x="79372" y="132257"/>
                      <a:pt x="75107" y="136522"/>
                      <a:pt x="69847" y="136522"/>
                    </a:cubicBezTo>
                    <a:cubicBezTo>
                      <a:pt x="64586" y="136522"/>
                      <a:pt x="60322" y="132257"/>
                      <a:pt x="60322" y="126997"/>
                    </a:cubicBezTo>
                    <a:cubicBezTo>
                      <a:pt x="60322" y="100694"/>
                      <a:pt x="38999" y="79372"/>
                      <a:pt x="12697" y="79372"/>
                    </a:cubicBezTo>
                    <a:cubicBezTo>
                      <a:pt x="0" y="79372"/>
                      <a:pt x="0" y="60322"/>
                      <a:pt x="12697" y="60322"/>
                    </a:cubicBezTo>
                  </a:path>
                </a:pathLst>
              </a:custGeom>
              <a:solidFill>
                <a:srgbClr val="FFD479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666875" y="4578353"/>
                <a:ext cx="60322" cy="63494"/>
              </a:xfrm>
              <a:custGeom>
                <a:avLst/>
                <a:gdLst/>
                <a:ahLst/>
                <a:cxnLst/>
                <a:rect l="l" t="t" r="r" b="b"/>
                <a:pathLst>
                  <a:path w="60322" h="63494">
                    <a:moveTo>
                      <a:pt x="9525" y="41272"/>
                    </a:moveTo>
                    <a:cubicBezTo>
                      <a:pt x="4264" y="41272"/>
                      <a:pt x="0" y="37007"/>
                      <a:pt x="0" y="31747"/>
                    </a:cubicBezTo>
                    <a:cubicBezTo>
                      <a:pt x="0" y="26486"/>
                      <a:pt x="4264" y="22222"/>
                      <a:pt x="9525" y="22222"/>
                    </a:cubicBezTo>
                    <a:cubicBezTo>
                      <a:pt x="14786" y="22222"/>
                      <a:pt x="19050" y="17957"/>
                      <a:pt x="19050" y="12697"/>
                    </a:cubicBezTo>
                    <a:cubicBezTo>
                      <a:pt x="19050" y="0"/>
                      <a:pt x="38100" y="0"/>
                      <a:pt x="38100" y="12697"/>
                    </a:cubicBezTo>
                    <a:cubicBezTo>
                      <a:pt x="38100" y="17957"/>
                      <a:pt x="42364" y="22222"/>
                      <a:pt x="47625" y="22222"/>
                    </a:cubicBezTo>
                    <a:cubicBezTo>
                      <a:pt x="60322" y="22222"/>
                      <a:pt x="60322" y="41272"/>
                      <a:pt x="47625" y="41272"/>
                    </a:cubicBezTo>
                    <a:cubicBezTo>
                      <a:pt x="42364" y="41272"/>
                      <a:pt x="38100" y="45536"/>
                      <a:pt x="38100" y="50797"/>
                    </a:cubicBezTo>
                    <a:cubicBezTo>
                      <a:pt x="38100" y="63494"/>
                      <a:pt x="19050" y="63494"/>
                      <a:pt x="19050" y="50797"/>
                    </a:cubicBezTo>
                    <a:cubicBezTo>
                      <a:pt x="19050" y="45536"/>
                      <a:pt x="14786" y="41272"/>
                      <a:pt x="9525" y="41272"/>
                    </a:cubicBezTo>
                  </a:path>
                </a:pathLst>
              </a:custGeom>
              <a:solidFill>
                <a:srgbClr val="FFD479"/>
              </a:solidFill>
              <a:ln>
                <a:noFill/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762000" y="4933950"/>
              <a:ext cx="2971800" cy="495300"/>
            </a:xfrm>
            <a:prstGeom prst="roundRect">
              <a:avLst>
                <a:gd name="adj" fmla="val 2307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00125" y="5133975"/>
              <a:ext cx="95250" cy="95250"/>
            </a:xfrm>
            <a:prstGeom prst="ellipse">
              <a:avLst/>
            </a:prstGeom>
            <a:solidFill>
              <a:srgbClr val="FFD47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50442" y="5102542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云同步 · 换机恢复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86200" y="4933950"/>
              <a:ext cx="2971800" cy="495300"/>
            </a:xfrm>
            <a:prstGeom prst="roundRect">
              <a:avLst>
                <a:gd name="adj" fmla="val 23077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124325" y="5133975"/>
              <a:ext cx="95250" cy="95250"/>
            </a:xfrm>
            <a:prstGeom prst="ellipse">
              <a:avLst/>
            </a:prstGeom>
            <a:solidFill>
              <a:srgbClr val="FFD47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374642" y="5102542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账单导出 · 后台运营系统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162800" y="2095500"/>
            <a:ext cx="4267200" cy="1581150"/>
            <a:chOff x="7162800" y="2095500"/>
            <a:chExt cx="4267200" cy="1581150"/>
          </a:xfrm>
        </p:grpSpPr>
        <p:sp>
          <p:nvSpPr>
            <p:cNvPr id="35" name="Rectangle 35"/>
            <p:cNvSpPr/>
            <p:nvPr/>
          </p:nvSpPr>
          <p:spPr>
            <a:xfrm>
              <a:off x="7162800" y="2095500"/>
              <a:ext cx="4267200" cy="1581150"/>
            </a:xfrm>
            <a:prstGeom prst="roundRect">
              <a:avLst>
                <a:gd name="adj" fmla="val 9639"/>
              </a:avLst>
            </a:prstGeom>
            <a:solidFill>
              <a:srgbClr val="2E2238"/>
            </a:solidFill>
            <a:ln w="9525">
              <a:solidFill>
                <a:srgbClr val="3A2C4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527130" y="2386011"/>
              <a:ext cx="166690" cy="238127"/>
            </a:xfrm>
            <a:custGeom>
              <a:avLst/>
              <a:gdLst/>
              <a:ahLst/>
              <a:cxnLst/>
              <a:rect l="l" t="t" r="r" b="b"/>
              <a:pathLst>
                <a:path w="166690" h="238127">
                  <a:moveTo>
                    <a:pt x="130970" y="1"/>
                  </a:moveTo>
                  <a:cubicBezTo>
                    <a:pt x="149884" y="0"/>
                    <a:pt x="165519" y="14743"/>
                    <a:pt x="166629" y="33624"/>
                  </a:cubicBezTo>
                  <a:lnTo>
                    <a:pt x="166689" y="35720"/>
                  </a:lnTo>
                  <a:lnTo>
                    <a:pt x="166689" y="202407"/>
                  </a:lnTo>
                  <a:cubicBezTo>
                    <a:pt x="166690" y="221321"/>
                    <a:pt x="151946" y="236957"/>
                    <a:pt x="133065" y="238067"/>
                  </a:cubicBezTo>
                  <a:lnTo>
                    <a:pt x="130970" y="238126"/>
                  </a:lnTo>
                  <a:lnTo>
                    <a:pt x="35720" y="238126"/>
                  </a:lnTo>
                  <a:cubicBezTo>
                    <a:pt x="16806" y="238127"/>
                    <a:pt x="1170" y="223384"/>
                    <a:pt x="61" y="204503"/>
                  </a:cubicBezTo>
                  <a:lnTo>
                    <a:pt x="1" y="202407"/>
                  </a:lnTo>
                  <a:lnTo>
                    <a:pt x="1" y="35720"/>
                  </a:lnTo>
                  <a:cubicBezTo>
                    <a:pt x="0" y="16806"/>
                    <a:pt x="14743" y="1170"/>
                    <a:pt x="33624" y="61"/>
                  </a:cubicBezTo>
                  <a:lnTo>
                    <a:pt x="35720" y="1"/>
                  </a:lnTo>
                  <a:lnTo>
                    <a:pt x="130970" y="1"/>
                  </a:lnTo>
                  <a:close/>
                  <a:moveTo>
                    <a:pt x="83345" y="166689"/>
                  </a:moveTo>
                  <a:cubicBezTo>
                    <a:pt x="77309" y="166689"/>
                    <a:pt x="72228" y="171207"/>
                    <a:pt x="71522" y="177202"/>
                  </a:cubicBezTo>
                  <a:lnTo>
                    <a:pt x="71439" y="178595"/>
                  </a:lnTo>
                  <a:lnTo>
                    <a:pt x="71522" y="180107"/>
                  </a:lnTo>
                  <a:cubicBezTo>
                    <a:pt x="72234" y="186096"/>
                    <a:pt x="77313" y="190607"/>
                    <a:pt x="83345" y="190607"/>
                  </a:cubicBezTo>
                  <a:cubicBezTo>
                    <a:pt x="89376" y="190607"/>
                    <a:pt x="94455" y="186096"/>
                    <a:pt x="95168" y="180107"/>
                  </a:cubicBezTo>
                  <a:lnTo>
                    <a:pt x="95251" y="178714"/>
                  </a:lnTo>
                  <a:lnTo>
                    <a:pt x="95168" y="177202"/>
                  </a:lnTo>
                  <a:cubicBezTo>
                    <a:pt x="94461" y="171207"/>
                    <a:pt x="89381" y="166689"/>
                    <a:pt x="83345" y="166689"/>
                  </a:cubicBezTo>
                  <a:close/>
                  <a:moveTo>
                    <a:pt x="95251" y="23814"/>
                  </a:moveTo>
                  <a:lnTo>
                    <a:pt x="71439" y="23814"/>
                  </a:lnTo>
                  <a:lnTo>
                    <a:pt x="70046" y="23897"/>
                  </a:lnTo>
                  <a:cubicBezTo>
                    <a:pt x="64056" y="24609"/>
                    <a:pt x="59546" y="29688"/>
                    <a:pt x="59546" y="35720"/>
                  </a:cubicBezTo>
                  <a:cubicBezTo>
                    <a:pt x="59546" y="41751"/>
                    <a:pt x="64056" y="46830"/>
                    <a:pt x="70046" y="47543"/>
                  </a:cubicBezTo>
                  <a:lnTo>
                    <a:pt x="71439" y="47626"/>
                  </a:lnTo>
                  <a:lnTo>
                    <a:pt x="95251" y="47626"/>
                  </a:lnTo>
                  <a:lnTo>
                    <a:pt x="96644" y="47543"/>
                  </a:lnTo>
                  <a:cubicBezTo>
                    <a:pt x="102634" y="46830"/>
                    <a:pt x="107144" y="41751"/>
                    <a:pt x="107144" y="35720"/>
                  </a:cubicBezTo>
                  <a:cubicBezTo>
                    <a:pt x="107144" y="29688"/>
                    <a:pt x="102634" y="24609"/>
                    <a:pt x="96644" y="23897"/>
                  </a:cubicBezTo>
                  <a:lnTo>
                    <a:pt x="95251" y="23814"/>
                  </a:lnTo>
                  <a:close/>
                </a:path>
              </a:pathLst>
            </a:custGeom>
            <a:solidFill>
              <a:srgbClr val="FF8C6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60030" y="24288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479"/>
                  </a:solidFill>
                  <a:latin typeface="Segoe UI"/>
                  <a:ea typeface="Microsoft YaHei"/>
                  <a:cs typeface="Segoe UI"/>
                </a:rPr>
                <a:t>技术栈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79030" y="2886075"/>
              <a:ext cx="3065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EDE6EC"/>
                  </a:solidFill>
                  <a:latin typeface="Segoe UI"/>
                  <a:ea typeface="Segoe UI"/>
                  <a:cs typeface="Segoe UI"/>
                </a:rPr>
                <a:t>Spring Boot + MyBatis + MySQL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79030" y="3228975"/>
              <a:ext cx="32258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uni-app（Vue3）</a:t>
              </a:r>
              <a:r>
                <a:rPr lang="zh-CN" sz="1500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一套代码三端发布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162800" y="3829050"/>
            <a:ext cx="4267200" cy="1581150"/>
            <a:chOff x="7162800" y="3829050"/>
            <a:chExt cx="4267200" cy="1581150"/>
          </a:xfrm>
        </p:grpSpPr>
        <p:sp>
          <p:nvSpPr>
            <p:cNvPr id="41" name="Rectangle 41"/>
            <p:cNvSpPr/>
            <p:nvPr/>
          </p:nvSpPr>
          <p:spPr>
            <a:xfrm>
              <a:off x="7162800" y="3829050"/>
              <a:ext cx="4267200" cy="1581150"/>
            </a:xfrm>
            <a:prstGeom prst="roundRect">
              <a:avLst>
                <a:gd name="adj" fmla="val 9639"/>
              </a:avLst>
            </a:prstGeom>
            <a:solidFill>
              <a:srgbClr val="2E2238"/>
            </a:solidFill>
            <a:ln w="14288">
              <a:solidFill>
                <a:srgbClr val="FF6B8A">
                  <a:alpha val="40000"/>
                </a:srgbClr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515225" y="4143375"/>
              <a:ext cx="194191" cy="214312"/>
            </a:xfrm>
            <a:custGeom>
              <a:avLst/>
              <a:gdLst/>
              <a:ahLst/>
              <a:cxnLst/>
              <a:rect l="l" t="t" r="r" b="b"/>
              <a:pathLst>
                <a:path w="194191" h="214312">
                  <a:moveTo>
                    <a:pt x="178594" y="0"/>
                  </a:moveTo>
                  <a:cubicBezTo>
                    <a:pt x="188738" y="0"/>
                    <a:pt x="194036" y="11740"/>
                    <a:pt x="187916" y="19324"/>
                  </a:cubicBezTo>
                  <a:lnTo>
                    <a:pt x="187011" y="20324"/>
                  </a:lnTo>
                  <a:lnTo>
                    <a:pt x="141863" y="65484"/>
                  </a:lnTo>
                  <a:lnTo>
                    <a:pt x="187011" y="110645"/>
                  </a:lnTo>
                  <a:cubicBezTo>
                    <a:pt x="194191" y="117812"/>
                    <a:pt x="189631" y="129861"/>
                    <a:pt x="179951" y="130897"/>
                  </a:cubicBezTo>
                  <a:lnTo>
                    <a:pt x="178594" y="130969"/>
                  </a:lnTo>
                  <a:lnTo>
                    <a:pt x="23812" y="130969"/>
                  </a:lnTo>
                  <a:lnTo>
                    <a:pt x="23812" y="202406"/>
                  </a:lnTo>
                  <a:cubicBezTo>
                    <a:pt x="23812" y="208442"/>
                    <a:pt x="19294" y="213523"/>
                    <a:pt x="13299" y="214229"/>
                  </a:cubicBezTo>
                  <a:lnTo>
                    <a:pt x="11906" y="214312"/>
                  </a:lnTo>
                  <a:cubicBezTo>
                    <a:pt x="5870" y="214312"/>
                    <a:pt x="790" y="209794"/>
                    <a:pt x="83" y="203799"/>
                  </a:cubicBezTo>
                  <a:lnTo>
                    <a:pt x="0" y="202406"/>
                  </a:lnTo>
                  <a:lnTo>
                    <a:pt x="0" y="11906"/>
                  </a:lnTo>
                  <a:cubicBezTo>
                    <a:pt x="1" y="5870"/>
                    <a:pt x="4519" y="790"/>
                    <a:pt x="10513" y="83"/>
                  </a:cubicBezTo>
                  <a:lnTo>
                    <a:pt x="11906" y="0"/>
                  </a:lnTo>
                  <a:lnTo>
                    <a:pt x="178594" y="0"/>
                  </a:lnTo>
                  <a:close/>
                </a:path>
              </a:pathLst>
            </a:custGeom>
            <a:solidFill>
              <a:srgbClr val="FF6B8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60030" y="41624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479"/>
                  </a:solidFill>
                  <a:latin typeface="Segoe UI"/>
                  <a:ea typeface="Microsoft YaHei"/>
                  <a:cs typeface="Segoe UI"/>
                </a:rPr>
                <a:t>当前阶段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74458" y="4541520"/>
              <a:ext cx="18703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MVP 已成型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79411" y="5027771"/>
              <a:ext cx="27001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核心链路打通，进入内测打磨期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5904" y="5699760"/>
            <a:ext cx="10679811" cy="932974"/>
            <a:chOff x="755904" y="5699760"/>
            <a:chExt cx="10679811" cy="932974"/>
          </a:xfrm>
        </p:grpSpPr>
        <p:sp>
          <p:nvSpPr>
            <p:cNvPr id="47" name="TextBox 47"/>
            <p:cNvSpPr txBox="1"/>
            <p:nvPr/>
          </p:nvSpPr>
          <p:spPr>
            <a:xfrm>
              <a:off x="755904" y="5699760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说明：云同步 / 导出为下一阶段功能，本页按真实状态标注，</a:t>
              </a:r>
              <a:r>
                <a:rPr lang="zh-CN" sz="1200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不超前承诺</a:t>
              </a:r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62000" y="62484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3A2C4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6285" y="6412706"/>
              <a:ext cx="154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6076"/>
                  </a:solidFill>
                  <a:latin typeface="Segoe UI"/>
                  <a:ea typeface="Microsoft YaHei"/>
                  <a:cs typeface="Segoe UI"/>
                </a:rPr>
                <a:t>每日记账 · 投资人路演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16936" y="6412706"/>
              <a:ext cx="518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E6076"/>
                  </a:solidFill>
                  <a:latin typeface="Segoe UI"/>
                  <a:ea typeface="Segoe UI"/>
                  <a:cs typeface="Segoe UI"/>
                </a:rPr>
                <a:t>04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333500" y="-2286000"/>
            <a:ext cx="14859000" cy="11239500"/>
            <a:chOff x="-1333500" y="-2286000"/>
            <a:chExt cx="14859000" cy="11239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1320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429500" y="-2286000"/>
              <a:ext cx="6096000" cy="6096000"/>
            </a:xfrm>
            <a:prstGeom prst="ellipse">
              <a:avLst/>
            </a:prstGeom>
            <a:gradFill>
              <a:gsLst>
                <a:gs pos="0">
                  <a:srgbClr val="FF6B8A">
                    <a:alpha val="26000"/>
                  </a:srgbClr>
                </a:gs>
                <a:gs pos="100000">
                  <a:srgbClr val="FF6B8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33500" y="4000500"/>
              <a:ext cx="4953000" cy="4953000"/>
            </a:xfrm>
            <a:prstGeom prst="ellipse">
              <a:avLst/>
            </a:prstGeom>
            <a:gradFill>
              <a:gsLst>
                <a:gs pos="0">
                  <a:srgbClr val="FFD479">
                    <a:alpha val="18000"/>
                  </a:srgbClr>
                </a:gs>
                <a:gs pos="100000">
                  <a:srgbClr val="FFD479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6760" y="616268"/>
            <a:ext cx="6878936" cy="884872"/>
            <a:chOff x="746760" y="616268"/>
            <a:chExt cx="6878936" cy="884872"/>
          </a:xfrm>
        </p:grpSpPr>
        <p:sp>
          <p:nvSpPr>
            <p:cNvPr id="6" name="TextBox 6"/>
            <p:cNvSpPr txBox="1"/>
            <p:nvPr/>
          </p:nvSpPr>
          <p:spPr>
            <a:xfrm>
              <a:off x="755142" y="616268"/>
              <a:ext cx="2030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FF6B8A"/>
                  </a:solidFill>
                  <a:latin typeface="Segoe UI"/>
                  <a:ea typeface="Microsoft YaHei"/>
                  <a:cs typeface="Segoe UI"/>
                </a:rPr>
                <a:t>市场 · 路线图 · 诉求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914400"/>
              <a:ext cx="68789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高频刚需 + 清晰路线，</a:t>
              </a:r>
              <a:r>
                <a:rPr lang="zh-CN" sz="3000" b="1" dirty="0">
                  <a:gradFill>
                    <a:gsLst>
                      <a:gs pos="0">
                        <a:srgbClr val="FF6B8A"/>
                      </a:gs>
                      <a:gs pos="100000">
                        <a:srgbClr val="FFD479"/>
                      </a:gs>
                    </a:gsLst>
                    <a:lin ang="0" scaled="1"/>
                  </a:gradFill>
                  <a:latin typeface="Segoe UI"/>
                  <a:ea typeface="Microsoft YaHei"/>
                  <a:cs typeface="Segoe UI"/>
                </a:rPr>
                <a:t>期待与你同行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04950"/>
            <a:ext cx="3429000" cy="914400"/>
            <a:chOff x="762000" y="1504950"/>
            <a:chExt cx="3429000" cy="914400"/>
          </a:xfrm>
        </p:grpSpPr>
        <p:sp>
          <p:nvSpPr>
            <p:cNvPr id="9" name="Rectangle 9"/>
            <p:cNvSpPr/>
            <p:nvPr/>
          </p:nvSpPr>
          <p:spPr>
            <a:xfrm>
              <a:off x="762000" y="1504950"/>
              <a:ext cx="3429000" cy="914400"/>
            </a:xfrm>
            <a:prstGeom prst="roundRect">
              <a:avLst>
                <a:gd name="adj" fmla="val 14583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50131" y="1757362"/>
              <a:ext cx="166688" cy="238126"/>
              <a:chOff x="1050131" y="1757362"/>
              <a:chExt cx="166688" cy="23812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73944" y="1757362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59531" y="0"/>
                    </a:moveTo>
                    <a:cubicBezTo>
                      <a:pt x="92409" y="0"/>
                      <a:pt x="119062" y="26653"/>
                      <a:pt x="119062" y="59531"/>
                    </a:cubicBezTo>
                    <a:cubicBezTo>
                      <a:pt x="119062" y="92409"/>
                      <a:pt x="92409" y="119062"/>
                      <a:pt x="59531" y="119062"/>
                    </a:cubicBezTo>
                    <a:cubicBezTo>
                      <a:pt x="26653" y="119062"/>
                      <a:pt x="0" y="92409"/>
                      <a:pt x="0" y="59531"/>
                    </a:cubicBezTo>
                    <a:lnTo>
                      <a:pt x="60" y="56948"/>
                    </a:lnTo>
                    <a:cubicBezTo>
                      <a:pt x="1443" y="25106"/>
                      <a:pt x="27659" y="2"/>
                      <a:pt x="59531" y="0"/>
                    </a:cubicBezTo>
                    <a:close/>
                  </a:path>
                </a:pathLst>
              </a:custGeom>
              <a:solidFill>
                <a:srgbClr val="FF6B8A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50131" y="1900238"/>
                <a:ext cx="16668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0">
                    <a:moveTo>
                      <a:pt x="107156" y="0"/>
                    </a:moveTo>
                    <a:cubicBezTo>
                      <a:pt x="140034" y="0"/>
                      <a:pt x="166688" y="26653"/>
                      <a:pt x="166688" y="59531"/>
                    </a:cubicBezTo>
                    <a:lnTo>
                      <a:pt x="166688" y="71438"/>
                    </a:lnTo>
                    <a:cubicBezTo>
                      <a:pt x="166688" y="84589"/>
                      <a:pt x="156026" y="95250"/>
                      <a:pt x="142875" y="95250"/>
                    </a:cubicBezTo>
                    <a:lnTo>
                      <a:pt x="23812" y="95250"/>
                    </a:lnTo>
                    <a:cubicBezTo>
                      <a:pt x="10661" y="95250"/>
                      <a:pt x="0" y="84589"/>
                      <a:pt x="0" y="71438"/>
                    </a:cubicBezTo>
                    <a:lnTo>
                      <a:pt x="0" y="59531"/>
                    </a:lnTo>
                    <a:cubicBezTo>
                      <a:pt x="0" y="26653"/>
                      <a:pt x="26653" y="0"/>
                      <a:pt x="59531" y="0"/>
                    </a:cubicBezTo>
                    <a:lnTo>
                      <a:pt x="107156" y="0"/>
                    </a:lnTo>
                    <a:close/>
                  </a:path>
                </a:pathLst>
              </a:custGeom>
              <a:solidFill>
                <a:srgbClr val="FF6B8A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77696" y="1686878"/>
              <a:ext cx="9810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gradFill>
                    <a:gsLst>
                      <a:gs pos="0">
                        <a:srgbClr val="FF6B8A"/>
                      </a:gs>
                      <a:gs pos="100000">
                        <a:srgbClr val="FFD479"/>
                      </a:gs>
                    </a:gsLst>
                    <a:lin ang="0" scaled="1"/>
                  </a:gradFill>
                  <a:latin typeface="Segoe UI"/>
                  <a:ea typeface="Microsoft YaHei"/>
                  <a:cs typeface="Segoe UI"/>
                </a:rPr>
                <a:t>2.6亿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504" y="21374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移动支付年轻用户基数（行业测算）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504950"/>
            <a:ext cx="3429000" cy="914400"/>
            <a:chOff x="4381500" y="1504950"/>
            <a:chExt cx="3429000" cy="9144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504950"/>
              <a:ext cx="3429000" cy="914400"/>
            </a:xfrm>
            <a:prstGeom prst="roundRect">
              <a:avLst>
                <a:gd name="adj" fmla="val 14583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645818" y="1757027"/>
              <a:ext cx="214315" cy="238462"/>
              <a:chOff x="4645818" y="1757027"/>
              <a:chExt cx="214315" cy="23846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693444" y="187642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11906" y="0"/>
                    </a:move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59531"/>
                    </a:lnTo>
                    <a:cubicBezTo>
                      <a:pt x="23812" y="66107"/>
                      <a:pt x="18482" y="71438"/>
                      <a:pt x="11906" y="71438"/>
                    </a:cubicBezTo>
                    <a:cubicBezTo>
                      <a:pt x="5331" y="71438"/>
                      <a:pt x="0" y="66107"/>
                      <a:pt x="0" y="59531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</a:path>
                </a:pathLst>
              </a:custGeom>
              <a:solidFill>
                <a:srgbClr val="FF8C6B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741069" y="187642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11906" y="0"/>
                    </a:move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59531"/>
                    </a:lnTo>
                    <a:cubicBezTo>
                      <a:pt x="23812" y="66107"/>
                      <a:pt x="18482" y="71438"/>
                      <a:pt x="11906" y="71438"/>
                    </a:cubicBezTo>
                    <a:cubicBezTo>
                      <a:pt x="5331" y="71438"/>
                      <a:pt x="0" y="66107"/>
                      <a:pt x="0" y="59531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</a:path>
                </a:pathLst>
              </a:custGeom>
              <a:solidFill>
                <a:srgbClr val="FF8C6B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788694" y="187642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11906" y="0"/>
                    </a:move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59531"/>
                    </a:lnTo>
                    <a:cubicBezTo>
                      <a:pt x="23812" y="66107"/>
                      <a:pt x="18482" y="71438"/>
                      <a:pt x="11906" y="71438"/>
                    </a:cubicBezTo>
                    <a:cubicBezTo>
                      <a:pt x="5331" y="71438"/>
                      <a:pt x="0" y="66107"/>
                      <a:pt x="0" y="59531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</a:path>
                </a:pathLst>
              </a:custGeom>
              <a:solidFill>
                <a:srgbClr val="FF8C6B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645818" y="1757027"/>
                <a:ext cx="214315" cy="238462"/>
              </a:xfrm>
              <a:custGeom>
                <a:avLst/>
                <a:gdLst/>
                <a:ahLst/>
                <a:cxnLst/>
                <a:rect l="l" t="t" r="r" b="b"/>
                <a:pathLst>
                  <a:path w="214315" h="238462">
                    <a:moveTo>
                      <a:pt x="154782" y="336"/>
                    </a:moveTo>
                    <a:cubicBezTo>
                      <a:pt x="160818" y="336"/>
                      <a:pt x="165899" y="4854"/>
                      <a:pt x="166605" y="10849"/>
                    </a:cubicBezTo>
                    <a:lnTo>
                      <a:pt x="166689" y="12242"/>
                    </a:lnTo>
                    <a:lnTo>
                      <a:pt x="166689" y="24148"/>
                    </a:lnTo>
                    <a:lnTo>
                      <a:pt x="178595" y="24148"/>
                    </a:lnTo>
                    <a:cubicBezTo>
                      <a:pt x="197509" y="24147"/>
                      <a:pt x="213144" y="38890"/>
                      <a:pt x="214254" y="57771"/>
                    </a:cubicBezTo>
                    <a:lnTo>
                      <a:pt x="214314" y="59867"/>
                    </a:lnTo>
                    <a:lnTo>
                      <a:pt x="214314" y="202742"/>
                    </a:lnTo>
                    <a:cubicBezTo>
                      <a:pt x="214315" y="221656"/>
                      <a:pt x="199571" y="237291"/>
                      <a:pt x="180690" y="238401"/>
                    </a:cubicBezTo>
                    <a:lnTo>
                      <a:pt x="178595" y="238461"/>
                    </a:lnTo>
                    <a:lnTo>
                      <a:pt x="35720" y="238461"/>
                    </a:lnTo>
                    <a:cubicBezTo>
                      <a:pt x="16806" y="238462"/>
                      <a:pt x="1170" y="223718"/>
                      <a:pt x="61" y="204837"/>
                    </a:cubicBezTo>
                    <a:lnTo>
                      <a:pt x="1" y="202742"/>
                    </a:lnTo>
                    <a:lnTo>
                      <a:pt x="1" y="59867"/>
                    </a:lnTo>
                    <a:cubicBezTo>
                      <a:pt x="0" y="40953"/>
                      <a:pt x="14743" y="25317"/>
                      <a:pt x="33624" y="24208"/>
                    </a:cubicBezTo>
                    <a:lnTo>
                      <a:pt x="35720" y="24148"/>
                    </a:lnTo>
                    <a:lnTo>
                      <a:pt x="47626" y="24148"/>
                    </a:lnTo>
                    <a:lnTo>
                      <a:pt x="47626" y="12242"/>
                    </a:lnTo>
                    <a:cubicBezTo>
                      <a:pt x="47633" y="5942"/>
                      <a:pt x="52546" y="738"/>
                      <a:pt x="58835" y="369"/>
                    </a:cubicBezTo>
                    <a:cubicBezTo>
                      <a:pt x="65123" y="0"/>
                      <a:pt x="70611" y="4593"/>
                      <a:pt x="71355" y="10849"/>
                    </a:cubicBezTo>
                    <a:lnTo>
                      <a:pt x="71439" y="12242"/>
                    </a:lnTo>
                    <a:lnTo>
                      <a:pt x="71439" y="24148"/>
                    </a:lnTo>
                    <a:lnTo>
                      <a:pt x="142876" y="24148"/>
                    </a:lnTo>
                    <a:lnTo>
                      <a:pt x="142876" y="12242"/>
                    </a:lnTo>
                    <a:cubicBezTo>
                      <a:pt x="142876" y="5666"/>
                      <a:pt x="148207" y="336"/>
                      <a:pt x="154782" y="336"/>
                    </a:cubicBezTo>
                    <a:moveTo>
                      <a:pt x="190501" y="83679"/>
                    </a:moveTo>
                    <a:lnTo>
                      <a:pt x="23814" y="83679"/>
                    </a:lnTo>
                    <a:lnTo>
                      <a:pt x="23814" y="198277"/>
                    </a:lnTo>
                    <a:cubicBezTo>
                      <a:pt x="23814" y="206671"/>
                      <a:pt x="28409" y="213588"/>
                      <a:pt x="34327" y="214541"/>
                    </a:cubicBezTo>
                    <a:lnTo>
                      <a:pt x="35720" y="214648"/>
                    </a:lnTo>
                    <a:lnTo>
                      <a:pt x="178595" y="214648"/>
                    </a:lnTo>
                    <a:cubicBezTo>
                      <a:pt x="184703" y="214648"/>
                      <a:pt x="189739" y="208338"/>
                      <a:pt x="190418" y="200182"/>
                    </a:cubicBezTo>
                    <a:lnTo>
                      <a:pt x="190501" y="198277"/>
                    </a:lnTo>
                    <a:close/>
                  </a:path>
                </a:pathLst>
              </a:custGeom>
              <a:solidFill>
                <a:srgbClr val="FF8C6B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4998720" y="17192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高频刚需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4004" y="2137410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每天 2+ 次的使用场景，强粘性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01000" y="1504950"/>
            <a:ext cx="3429000" cy="914400"/>
            <a:chOff x="8001000" y="1504950"/>
            <a:chExt cx="3429000" cy="914400"/>
          </a:xfrm>
        </p:grpSpPr>
        <p:sp>
          <p:nvSpPr>
            <p:cNvPr id="25" name="Rectangle 25"/>
            <p:cNvSpPr/>
            <p:nvPr/>
          </p:nvSpPr>
          <p:spPr>
            <a:xfrm>
              <a:off x="8001000" y="1504950"/>
              <a:ext cx="3429000" cy="914400"/>
            </a:xfrm>
            <a:prstGeom prst="roundRect">
              <a:avLst>
                <a:gd name="adj" fmla="val 14583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253412" y="1789509"/>
              <a:ext cx="236934" cy="170259"/>
            </a:xfrm>
            <a:custGeom>
              <a:avLst/>
              <a:gdLst/>
              <a:ahLst/>
              <a:cxnLst/>
              <a:rect l="l" t="t" r="r" b="b"/>
              <a:pathLst>
                <a:path w="236934" h="170259">
                  <a:moveTo>
                    <a:pt x="202406" y="170259"/>
                  </a:moveTo>
                  <a:lnTo>
                    <a:pt x="35719" y="170259"/>
                  </a:lnTo>
                  <a:cubicBezTo>
                    <a:pt x="29766" y="170259"/>
                    <a:pt x="25003" y="166688"/>
                    <a:pt x="23812" y="160734"/>
                  </a:cubicBezTo>
                  <a:lnTo>
                    <a:pt x="0" y="41672"/>
                  </a:lnTo>
                  <a:cubicBezTo>
                    <a:pt x="0" y="36909"/>
                    <a:pt x="1191" y="32147"/>
                    <a:pt x="5953" y="28575"/>
                  </a:cubicBezTo>
                  <a:cubicBezTo>
                    <a:pt x="10716" y="26194"/>
                    <a:pt x="15478" y="26194"/>
                    <a:pt x="19050" y="28575"/>
                  </a:cubicBezTo>
                  <a:lnTo>
                    <a:pt x="67866" y="67866"/>
                  </a:lnTo>
                  <a:lnTo>
                    <a:pt x="108347" y="7144"/>
                  </a:lnTo>
                  <a:cubicBezTo>
                    <a:pt x="113109" y="0"/>
                    <a:pt x="123825" y="0"/>
                    <a:pt x="128588" y="7144"/>
                  </a:cubicBezTo>
                  <a:lnTo>
                    <a:pt x="169069" y="67866"/>
                  </a:lnTo>
                  <a:lnTo>
                    <a:pt x="217884" y="28575"/>
                  </a:lnTo>
                  <a:cubicBezTo>
                    <a:pt x="221456" y="25003"/>
                    <a:pt x="227409" y="25003"/>
                    <a:pt x="230981" y="28575"/>
                  </a:cubicBezTo>
                  <a:cubicBezTo>
                    <a:pt x="235744" y="30956"/>
                    <a:pt x="236934" y="35719"/>
                    <a:pt x="236934" y="41672"/>
                  </a:cubicBezTo>
                  <a:lnTo>
                    <a:pt x="213122" y="160734"/>
                  </a:lnTo>
                  <a:cubicBezTo>
                    <a:pt x="213122" y="166688"/>
                    <a:pt x="207169" y="170259"/>
                    <a:pt x="201216" y="170259"/>
                  </a:cubicBezTo>
                  <a:close/>
                </a:path>
              </a:pathLst>
            </a:custGeom>
            <a:solidFill>
              <a:srgbClr val="FFD47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18220" y="171926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差异化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3504" y="21374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最轻、无广告，避开巨头正面战场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2686050"/>
            <a:ext cx="3429000" cy="1514856"/>
            <a:chOff x="762000" y="2686050"/>
            <a:chExt cx="3429000" cy="1514856"/>
          </a:xfrm>
        </p:grpSpPr>
        <p:sp>
          <p:nvSpPr>
            <p:cNvPr id="30" name="Rectangle 30"/>
            <p:cNvSpPr/>
            <p:nvPr/>
          </p:nvSpPr>
          <p:spPr>
            <a:xfrm>
              <a:off x="762000" y="2686050"/>
              <a:ext cx="3429000" cy="1409700"/>
            </a:xfrm>
            <a:prstGeom prst="roundRect">
              <a:avLst>
                <a:gd name="adj" fmla="val 10811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31875" y="2947981"/>
              <a:ext cx="222251" cy="200032"/>
            </a:xfrm>
            <a:custGeom>
              <a:avLst/>
              <a:gdLst/>
              <a:ahLst/>
              <a:cxnLst/>
              <a:rect l="l" t="t" r="r" b="b"/>
              <a:pathLst>
                <a:path w="222251" h="200032">
                  <a:moveTo>
                    <a:pt x="44450" y="7"/>
                  </a:moveTo>
                  <a:cubicBezTo>
                    <a:pt x="83785" y="0"/>
                    <a:pt x="116934" y="29358"/>
                    <a:pt x="121682" y="68404"/>
                  </a:cubicBezTo>
                  <a:cubicBezTo>
                    <a:pt x="136324" y="53080"/>
                    <a:pt x="156606" y="44425"/>
                    <a:pt x="177801" y="44457"/>
                  </a:cubicBezTo>
                  <a:lnTo>
                    <a:pt x="211138" y="44457"/>
                  </a:lnTo>
                  <a:cubicBezTo>
                    <a:pt x="217275" y="44457"/>
                    <a:pt x="222251" y="49432"/>
                    <a:pt x="222251" y="55569"/>
                  </a:cubicBezTo>
                  <a:lnTo>
                    <a:pt x="222251" y="66682"/>
                  </a:lnTo>
                  <a:cubicBezTo>
                    <a:pt x="222251" y="109643"/>
                    <a:pt x="187424" y="144470"/>
                    <a:pt x="144463" y="144470"/>
                  </a:cubicBezTo>
                  <a:lnTo>
                    <a:pt x="122238" y="144470"/>
                  </a:lnTo>
                  <a:lnTo>
                    <a:pt x="122238" y="188920"/>
                  </a:lnTo>
                  <a:cubicBezTo>
                    <a:pt x="122238" y="195057"/>
                    <a:pt x="117263" y="200032"/>
                    <a:pt x="111125" y="200032"/>
                  </a:cubicBezTo>
                  <a:cubicBezTo>
                    <a:pt x="104988" y="200032"/>
                    <a:pt x="100013" y="195057"/>
                    <a:pt x="100013" y="188920"/>
                  </a:cubicBezTo>
                  <a:lnTo>
                    <a:pt x="100013" y="111132"/>
                  </a:lnTo>
                  <a:lnTo>
                    <a:pt x="77788" y="111132"/>
                  </a:lnTo>
                  <a:cubicBezTo>
                    <a:pt x="34827" y="111132"/>
                    <a:pt x="0" y="76305"/>
                    <a:pt x="0" y="33344"/>
                  </a:cubicBezTo>
                  <a:lnTo>
                    <a:pt x="0" y="11119"/>
                  </a:lnTo>
                  <a:cubicBezTo>
                    <a:pt x="0" y="4982"/>
                    <a:pt x="4975" y="7"/>
                    <a:pt x="11113" y="7"/>
                  </a:cubicBezTo>
                  <a:close/>
                </a:path>
              </a:pathLst>
            </a:custGeom>
            <a:solidFill>
              <a:srgbClr val="7CE7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65885" y="3002756"/>
              <a:ext cx="145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rgbClr val="FF6B8A"/>
                  </a:solidFill>
                  <a:latin typeface="Segoe UI"/>
                  <a:ea typeface="Microsoft YaHei"/>
                  <a:cs typeface="Segoe UI"/>
                </a:rPr>
                <a:t>PHASE 1 · 0–3 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9744" y="333279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种子期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3554" y="3737610"/>
              <a:ext cx="21076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核心打磨 + 50–200 用户内测，</a:t>
              </a:r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跑通激活与首笔记账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381500" y="2686050"/>
            <a:ext cx="3429000" cy="1514856"/>
            <a:chOff x="4381500" y="2686050"/>
            <a:chExt cx="3429000" cy="1514856"/>
          </a:xfrm>
        </p:grpSpPr>
        <p:sp>
          <p:nvSpPr>
            <p:cNvPr id="36" name="Rectangle 36"/>
            <p:cNvSpPr/>
            <p:nvPr/>
          </p:nvSpPr>
          <p:spPr>
            <a:xfrm>
              <a:off x="4381500" y="2686050"/>
              <a:ext cx="3429000" cy="1409700"/>
            </a:xfrm>
            <a:prstGeom prst="roundRect">
              <a:avLst>
                <a:gd name="adj" fmla="val 10811"/>
              </a:avLst>
            </a:prstGeom>
            <a:solidFill>
              <a:srgbClr val="2E2238"/>
            </a:solidFill>
            <a:ln w="14288">
              <a:solidFill>
                <a:srgbClr val="FF6B8A">
                  <a:alpha val="40000"/>
                </a:srgbClr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4661172" y="2946646"/>
              <a:ext cx="202424" cy="190254"/>
              <a:chOff x="4661172" y="2946646"/>
              <a:chExt cx="202424" cy="19025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662488" y="3013279"/>
                <a:ext cx="200026" cy="123621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23621">
                    <a:moveTo>
                      <a:pt x="135795" y="5551"/>
                    </a:moveTo>
                    <a:cubicBezTo>
                      <a:pt x="139589" y="816"/>
                      <a:pt x="146480" y="0"/>
                      <a:pt x="151275" y="3717"/>
                    </a:cubicBezTo>
                    <a:lnTo>
                      <a:pt x="152319" y="4639"/>
                    </a:lnTo>
                    <a:lnTo>
                      <a:pt x="196770" y="49090"/>
                    </a:lnTo>
                    <a:cubicBezTo>
                      <a:pt x="198497" y="50818"/>
                      <a:pt x="199606" y="53068"/>
                      <a:pt x="199926" y="55490"/>
                    </a:cubicBezTo>
                    <a:lnTo>
                      <a:pt x="200026" y="56946"/>
                    </a:lnTo>
                    <a:lnTo>
                      <a:pt x="200026" y="112509"/>
                    </a:lnTo>
                    <a:cubicBezTo>
                      <a:pt x="200025" y="118143"/>
                      <a:pt x="195808" y="122884"/>
                      <a:pt x="190213" y="123544"/>
                    </a:cubicBezTo>
                    <a:lnTo>
                      <a:pt x="188913" y="123621"/>
                    </a:lnTo>
                    <a:lnTo>
                      <a:pt x="10868" y="123621"/>
                    </a:lnTo>
                    <a:lnTo>
                      <a:pt x="9646" y="123521"/>
                    </a:lnTo>
                    <a:lnTo>
                      <a:pt x="8423" y="123299"/>
                    </a:lnTo>
                    <a:lnTo>
                      <a:pt x="7234" y="122921"/>
                    </a:lnTo>
                    <a:lnTo>
                      <a:pt x="6067" y="122410"/>
                    </a:lnTo>
                    <a:lnTo>
                      <a:pt x="4956" y="121754"/>
                    </a:lnTo>
                    <a:lnTo>
                      <a:pt x="3912" y="120977"/>
                    </a:lnTo>
                    <a:lnTo>
                      <a:pt x="3245" y="120365"/>
                    </a:lnTo>
                    <a:lnTo>
                      <a:pt x="2445" y="119454"/>
                    </a:lnTo>
                    <a:lnTo>
                      <a:pt x="1734" y="118465"/>
                    </a:lnTo>
                    <a:lnTo>
                      <a:pt x="1133" y="117398"/>
                    </a:lnTo>
                    <a:lnTo>
                      <a:pt x="956" y="117009"/>
                    </a:lnTo>
                    <a:lnTo>
                      <a:pt x="511" y="115865"/>
                    </a:lnTo>
                    <a:lnTo>
                      <a:pt x="211" y="114687"/>
                    </a:lnTo>
                    <a:lnTo>
                      <a:pt x="44" y="113487"/>
                    </a:lnTo>
                    <a:lnTo>
                      <a:pt x="0" y="112264"/>
                    </a:lnTo>
                    <a:lnTo>
                      <a:pt x="100" y="111042"/>
                    </a:lnTo>
                    <a:lnTo>
                      <a:pt x="311" y="109875"/>
                    </a:lnTo>
                    <a:cubicBezTo>
                      <a:pt x="422" y="109431"/>
                      <a:pt x="556" y="109019"/>
                      <a:pt x="700" y="108631"/>
                    </a:cubicBezTo>
                    <a:lnTo>
                      <a:pt x="1211" y="107464"/>
                    </a:lnTo>
                    <a:lnTo>
                      <a:pt x="1867" y="106352"/>
                    </a:lnTo>
                    <a:lnTo>
                      <a:pt x="46317" y="39677"/>
                    </a:lnTo>
                    <a:cubicBezTo>
                      <a:pt x="49132" y="35440"/>
                      <a:pt x="54464" y="33654"/>
                      <a:pt x="59263" y="35343"/>
                    </a:cubicBezTo>
                    <a:lnTo>
                      <a:pt x="60530" y="35899"/>
                    </a:lnTo>
                    <a:lnTo>
                      <a:pt x="96946" y="54101"/>
                    </a:lnTo>
                    <a:lnTo>
                      <a:pt x="135784" y="5551"/>
                    </a:lnTo>
                    <a:close/>
                  </a:path>
                </a:pathLst>
              </a:custGeom>
              <a:solidFill>
                <a:srgbClr val="FF8C6B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661172" y="2946646"/>
                <a:ext cx="202424" cy="113782"/>
              </a:xfrm>
              <a:custGeom>
                <a:avLst/>
                <a:gdLst/>
                <a:ahLst/>
                <a:cxnLst/>
                <a:rect l="l" t="t" r="r" b="b"/>
                <a:pathLst>
                  <a:path w="202424" h="113782">
                    <a:moveTo>
                      <a:pt x="137244" y="5342"/>
                    </a:moveTo>
                    <a:cubicBezTo>
                      <a:pt x="141077" y="737"/>
                      <a:pt x="147870" y="0"/>
                      <a:pt x="152601" y="3675"/>
                    </a:cubicBezTo>
                    <a:lnTo>
                      <a:pt x="153635" y="4597"/>
                    </a:lnTo>
                    <a:lnTo>
                      <a:pt x="198085" y="49048"/>
                    </a:lnTo>
                    <a:cubicBezTo>
                      <a:pt x="202221" y="53198"/>
                      <a:pt x="202424" y="59847"/>
                      <a:pt x="198549" y="64241"/>
                    </a:cubicBezTo>
                    <a:cubicBezTo>
                      <a:pt x="194674" y="68636"/>
                      <a:pt x="188052" y="69267"/>
                      <a:pt x="183416" y="65683"/>
                    </a:cubicBezTo>
                    <a:lnTo>
                      <a:pt x="182372" y="64761"/>
                    </a:lnTo>
                    <a:lnTo>
                      <a:pt x="146523" y="28923"/>
                    </a:lnTo>
                    <a:lnTo>
                      <a:pt x="98750" y="86241"/>
                    </a:lnTo>
                    <a:cubicBezTo>
                      <a:pt x="95778" y="89806"/>
                      <a:pt x="90904" y="91149"/>
                      <a:pt x="86526" y="89608"/>
                    </a:cubicBezTo>
                    <a:lnTo>
                      <a:pt x="85248" y="89064"/>
                    </a:lnTo>
                    <a:lnTo>
                      <a:pt x="49088" y="70995"/>
                    </a:lnTo>
                    <a:lnTo>
                      <a:pt x="21318" y="108022"/>
                    </a:lnTo>
                    <a:cubicBezTo>
                      <a:pt x="17959" y="112501"/>
                      <a:pt x="11792" y="113782"/>
                      <a:pt x="6927" y="111011"/>
                    </a:cubicBezTo>
                    <a:lnTo>
                      <a:pt x="5760" y="110244"/>
                    </a:lnTo>
                    <a:cubicBezTo>
                      <a:pt x="1281" y="106885"/>
                      <a:pt x="0" y="100719"/>
                      <a:pt x="2771" y="95854"/>
                    </a:cubicBezTo>
                    <a:lnTo>
                      <a:pt x="3538" y="94687"/>
                    </a:lnTo>
                    <a:lnTo>
                      <a:pt x="36875" y="50237"/>
                    </a:lnTo>
                    <a:cubicBezTo>
                      <a:pt x="39801" y="46340"/>
                      <a:pt x="44923" y="44804"/>
                      <a:pt x="49510" y="46447"/>
                    </a:cubicBezTo>
                    <a:lnTo>
                      <a:pt x="50733" y="46970"/>
                    </a:lnTo>
                    <a:lnTo>
                      <a:pt x="87304" y="65250"/>
                    </a:lnTo>
                    <a:lnTo>
                      <a:pt x="137244" y="5342"/>
                    </a:lnTo>
                    <a:close/>
                  </a:path>
                </a:pathLst>
              </a:custGeom>
              <a:solidFill>
                <a:srgbClr val="FF8C6B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4985385" y="3002756"/>
              <a:ext cx="145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rgbClr val="FF6B8A"/>
                  </a:solidFill>
                  <a:latin typeface="Segoe UI"/>
                  <a:ea typeface="Microsoft YaHei"/>
                  <a:cs typeface="Segoe UI"/>
                </a:rPr>
                <a:t>PHASE 2 · 3–9 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19244" y="333279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增长期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23054" y="3737610"/>
              <a:ext cx="17114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云同步 + 内容矩阵起量，</a:t>
              </a:r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目标 D7 留存 &gt;20%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001000" y="2686050"/>
            <a:ext cx="3429000" cy="1514856"/>
            <a:chOff x="8001000" y="2686050"/>
            <a:chExt cx="3429000" cy="1514856"/>
          </a:xfrm>
        </p:grpSpPr>
        <p:sp>
          <p:nvSpPr>
            <p:cNvPr id="44" name="Rectangle 44"/>
            <p:cNvSpPr/>
            <p:nvPr/>
          </p:nvSpPr>
          <p:spPr>
            <a:xfrm>
              <a:off x="8001000" y="2686050"/>
              <a:ext cx="3429000" cy="1409700"/>
            </a:xfrm>
            <a:prstGeom prst="roundRect">
              <a:avLst>
                <a:gd name="adj" fmla="val 10811"/>
              </a:avLst>
            </a:prstGeom>
            <a:solidFill>
              <a:srgbClr val="241A2E"/>
            </a:solidFill>
            <a:ln w="9525">
              <a:solidFill>
                <a:srgbClr val="3A2C44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270874" y="2931897"/>
              <a:ext cx="233995" cy="234908"/>
            </a:xfrm>
            <a:custGeom>
              <a:avLst/>
              <a:gdLst/>
              <a:ahLst/>
              <a:cxnLst/>
              <a:rect l="l" t="t" r="r" b="b"/>
              <a:pathLst>
                <a:path w="233995" h="234908">
                  <a:moveTo>
                    <a:pt x="166689" y="19869"/>
                  </a:moveTo>
                  <a:cubicBezTo>
                    <a:pt x="213393" y="46833"/>
                    <a:pt x="233995" y="103438"/>
                    <a:pt x="215550" y="154114"/>
                  </a:cubicBezTo>
                  <a:cubicBezTo>
                    <a:pt x="197105" y="204790"/>
                    <a:pt x="144937" y="234908"/>
                    <a:pt x="91828" y="225543"/>
                  </a:cubicBezTo>
                  <a:cubicBezTo>
                    <a:pt x="38719" y="216177"/>
                    <a:pt x="0" y="170032"/>
                    <a:pt x="1" y="116103"/>
                  </a:cubicBezTo>
                  <a:lnTo>
                    <a:pt x="57" y="112503"/>
                  </a:lnTo>
                  <a:cubicBezTo>
                    <a:pt x="1323" y="73464"/>
                    <a:pt x="22991" y="37956"/>
                    <a:pt x="57130" y="18978"/>
                  </a:cubicBezTo>
                  <a:cubicBezTo>
                    <a:pt x="91268" y="0"/>
                    <a:pt x="132864" y="338"/>
                    <a:pt x="166689" y="19869"/>
                  </a:cubicBezTo>
                  <a:close/>
                  <a:moveTo>
                    <a:pt x="111127" y="49428"/>
                  </a:moveTo>
                  <a:cubicBezTo>
                    <a:pt x="88324" y="49428"/>
                    <a:pt x="69255" y="65530"/>
                    <a:pt x="60576" y="88322"/>
                  </a:cubicBezTo>
                  <a:lnTo>
                    <a:pt x="55564" y="88322"/>
                  </a:lnTo>
                  <a:cubicBezTo>
                    <a:pt x="49684" y="88328"/>
                    <a:pt x="44827" y="92914"/>
                    <a:pt x="44483" y="98783"/>
                  </a:cubicBezTo>
                  <a:cubicBezTo>
                    <a:pt x="44138" y="104652"/>
                    <a:pt x="48425" y="109775"/>
                    <a:pt x="54264" y="110469"/>
                  </a:cubicBezTo>
                  <a:lnTo>
                    <a:pt x="55753" y="110547"/>
                  </a:lnTo>
                  <a:cubicBezTo>
                    <a:pt x="55499" y="114247"/>
                    <a:pt x="55499" y="117959"/>
                    <a:pt x="55753" y="121659"/>
                  </a:cubicBezTo>
                  <a:lnTo>
                    <a:pt x="55564" y="121659"/>
                  </a:lnTo>
                  <a:cubicBezTo>
                    <a:pt x="49427" y="121659"/>
                    <a:pt x="44451" y="126635"/>
                    <a:pt x="44451" y="132772"/>
                  </a:cubicBezTo>
                  <a:cubicBezTo>
                    <a:pt x="44451" y="138909"/>
                    <a:pt x="49427" y="143884"/>
                    <a:pt x="55564" y="143884"/>
                  </a:cubicBezTo>
                  <a:lnTo>
                    <a:pt x="60587" y="143884"/>
                  </a:lnTo>
                  <a:cubicBezTo>
                    <a:pt x="69255" y="166698"/>
                    <a:pt x="88324" y="182778"/>
                    <a:pt x="111127" y="182778"/>
                  </a:cubicBezTo>
                  <a:cubicBezTo>
                    <a:pt x="123806" y="182778"/>
                    <a:pt x="135763" y="177700"/>
                    <a:pt x="145398" y="168665"/>
                  </a:cubicBezTo>
                  <a:cubicBezTo>
                    <a:pt x="149878" y="164467"/>
                    <a:pt x="150107" y="157432"/>
                    <a:pt x="145909" y="152952"/>
                  </a:cubicBezTo>
                  <a:cubicBezTo>
                    <a:pt x="141711" y="148472"/>
                    <a:pt x="134676" y="148243"/>
                    <a:pt x="130196" y="152441"/>
                  </a:cubicBezTo>
                  <a:cubicBezTo>
                    <a:pt x="124540" y="157753"/>
                    <a:pt x="117950" y="160553"/>
                    <a:pt x="111127" y="160553"/>
                  </a:cubicBezTo>
                  <a:cubicBezTo>
                    <a:pt x="100881" y="160553"/>
                    <a:pt x="91391" y="154130"/>
                    <a:pt x="85179" y="143895"/>
                  </a:cubicBezTo>
                  <a:lnTo>
                    <a:pt x="100014" y="143884"/>
                  </a:lnTo>
                  <a:cubicBezTo>
                    <a:pt x="106151" y="143884"/>
                    <a:pt x="111127" y="138909"/>
                    <a:pt x="111127" y="132772"/>
                  </a:cubicBezTo>
                  <a:cubicBezTo>
                    <a:pt x="111127" y="126635"/>
                    <a:pt x="106151" y="121659"/>
                    <a:pt x="100014" y="121659"/>
                  </a:cubicBezTo>
                  <a:lnTo>
                    <a:pt x="78045" y="121659"/>
                  </a:lnTo>
                  <a:cubicBezTo>
                    <a:pt x="77697" y="117963"/>
                    <a:pt x="77697" y="114243"/>
                    <a:pt x="78045" y="110547"/>
                  </a:cubicBezTo>
                  <a:lnTo>
                    <a:pt x="100014" y="110547"/>
                  </a:lnTo>
                  <a:cubicBezTo>
                    <a:pt x="106151" y="110547"/>
                    <a:pt x="111127" y="105572"/>
                    <a:pt x="111127" y="99434"/>
                  </a:cubicBezTo>
                  <a:cubicBezTo>
                    <a:pt x="111127" y="93297"/>
                    <a:pt x="106151" y="88322"/>
                    <a:pt x="100014" y="88322"/>
                  </a:cubicBezTo>
                  <a:lnTo>
                    <a:pt x="85168" y="88322"/>
                  </a:lnTo>
                  <a:cubicBezTo>
                    <a:pt x="91391" y="78087"/>
                    <a:pt x="100881" y="71653"/>
                    <a:pt x="111127" y="71653"/>
                  </a:cubicBezTo>
                  <a:cubicBezTo>
                    <a:pt x="117961" y="71653"/>
                    <a:pt x="124551" y="74453"/>
                    <a:pt x="130207" y="79765"/>
                  </a:cubicBezTo>
                  <a:cubicBezTo>
                    <a:pt x="134687" y="83963"/>
                    <a:pt x="141722" y="83734"/>
                    <a:pt x="145920" y="79254"/>
                  </a:cubicBezTo>
                  <a:cubicBezTo>
                    <a:pt x="150118" y="74774"/>
                    <a:pt x="149889" y="67739"/>
                    <a:pt x="145409" y="63541"/>
                  </a:cubicBezTo>
                  <a:cubicBezTo>
                    <a:pt x="135774" y="54517"/>
                    <a:pt x="123817" y="49428"/>
                    <a:pt x="111127" y="49428"/>
                  </a:cubicBezTo>
                  <a:close/>
                </a:path>
              </a:pathLst>
            </a:custGeom>
            <a:solidFill>
              <a:srgbClr val="FFD47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04885" y="3002756"/>
              <a:ext cx="135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rgbClr val="FF6B8A"/>
                  </a:solidFill>
                  <a:latin typeface="Segoe UI"/>
                  <a:ea typeface="Microsoft YaHei"/>
                  <a:cs typeface="Segoe UI"/>
                </a:rPr>
                <a:t>PHASE 3 · 9 月+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38744" y="333279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商业化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2554" y="3737610"/>
              <a:ext cx="23439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账单导出 / 会员增值 / 数据洞察，</a:t>
              </a:r>
              <a:r>
                <a:rPr lang="zh-CN" sz="120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探索可持续变现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4343400"/>
            <a:ext cx="5286375" cy="1428750"/>
            <a:chOff x="762000" y="4343400"/>
            <a:chExt cx="5286375" cy="1428750"/>
          </a:xfrm>
        </p:grpSpPr>
        <p:sp>
          <p:nvSpPr>
            <p:cNvPr id="50" name="Rectangle 50"/>
            <p:cNvSpPr/>
            <p:nvPr/>
          </p:nvSpPr>
          <p:spPr>
            <a:xfrm>
              <a:off x="762000" y="4343400"/>
              <a:ext cx="5286375" cy="1428750"/>
            </a:xfrm>
            <a:prstGeom prst="roundRect">
              <a:avLst>
                <a:gd name="adj" fmla="val 10667"/>
              </a:avLst>
            </a:prstGeom>
            <a:solidFill>
              <a:srgbClr val="2E2238"/>
            </a:solidFill>
            <a:ln w="14288">
              <a:solidFill>
                <a:srgbClr val="FF6B8A">
                  <a:alpha val="45000"/>
                </a:srgbClr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54100" y="4673600"/>
              <a:ext cx="253999" cy="177800"/>
            </a:xfrm>
            <a:custGeom>
              <a:avLst/>
              <a:gdLst/>
              <a:ahLst/>
              <a:cxnLst/>
              <a:rect l="l" t="t" r="r" b="b"/>
              <a:pathLst>
                <a:path w="253999" h="177800">
                  <a:moveTo>
                    <a:pt x="215899" y="0"/>
                  </a:moveTo>
                  <a:cubicBezTo>
                    <a:pt x="236941" y="0"/>
                    <a:pt x="253999" y="17058"/>
                    <a:pt x="253999" y="38100"/>
                  </a:cubicBezTo>
                  <a:lnTo>
                    <a:pt x="253999" y="139700"/>
                  </a:lnTo>
                  <a:cubicBezTo>
                    <a:pt x="253999" y="160742"/>
                    <a:pt x="236941" y="177800"/>
                    <a:pt x="215899" y="177800"/>
                  </a:cubicBezTo>
                  <a:lnTo>
                    <a:pt x="38100" y="177800"/>
                  </a:lnTo>
                  <a:cubicBezTo>
                    <a:pt x="17058" y="177800"/>
                    <a:pt x="0" y="160742"/>
                    <a:pt x="0" y="139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27000" y="50800"/>
                  </a:moveTo>
                  <a:cubicBezTo>
                    <a:pt x="106699" y="50802"/>
                    <a:pt x="89966" y="66720"/>
                    <a:pt x="88951" y="86995"/>
                  </a:cubicBezTo>
                  <a:lnTo>
                    <a:pt x="88900" y="88900"/>
                  </a:lnTo>
                  <a:cubicBezTo>
                    <a:pt x="88900" y="109942"/>
                    <a:pt x="105958" y="127000"/>
                    <a:pt x="127000" y="127000"/>
                  </a:cubicBezTo>
                  <a:cubicBezTo>
                    <a:pt x="148042" y="127000"/>
                    <a:pt x="165100" y="109942"/>
                    <a:pt x="165100" y="88900"/>
                  </a:cubicBezTo>
                  <a:cubicBezTo>
                    <a:pt x="165100" y="67858"/>
                    <a:pt x="148042" y="50800"/>
                    <a:pt x="127000" y="50800"/>
                  </a:cubicBezTo>
                  <a:moveTo>
                    <a:pt x="203326" y="76200"/>
                  </a:moveTo>
                  <a:lnTo>
                    <a:pt x="203199" y="76200"/>
                  </a:lnTo>
                  <a:cubicBezTo>
                    <a:pt x="196185" y="76200"/>
                    <a:pt x="190500" y="81886"/>
                    <a:pt x="190500" y="88900"/>
                  </a:cubicBezTo>
                  <a:cubicBezTo>
                    <a:pt x="190500" y="95914"/>
                    <a:pt x="196185" y="101600"/>
                    <a:pt x="203199" y="101600"/>
                  </a:cubicBezTo>
                  <a:lnTo>
                    <a:pt x="203326" y="101600"/>
                  </a:lnTo>
                  <a:cubicBezTo>
                    <a:pt x="210340" y="101600"/>
                    <a:pt x="216026" y="95914"/>
                    <a:pt x="216026" y="88900"/>
                  </a:cubicBezTo>
                  <a:cubicBezTo>
                    <a:pt x="216026" y="81886"/>
                    <a:pt x="210340" y="76200"/>
                    <a:pt x="203326" y="76200"/>
                  </a:cubicBezTo>
                  <a:moveTo>
                    <a:pt x="50927" y="76200"/>
                  </a:moveTo>
                  <a:lnTo>
                    <a:pt x="50800" y="76200"/>
                  </a:lnTo>
                  <a:cubicBezTo>
                    <a:pt x="46263" y="76222"/>
                    <a:pt x="42082" y="78664"/>
                    <a:pt x="39833" y="82605"/>
                  </a:cubicBezTo>
                  <a:cubicBezTo>
                    <a:pt x="37584" y="86546"/>
                    <a:pt x="37608" y="91387"/>
                    <a:pt x="39897" y="95305"/>
                  </a:cubicBezTo>
                  <a:cubicBezTo>
                    <a:pt x="42185" y="99223"/>
                    <a:pt x="46390" y="101622"/>
                    <a:pt x="50927" y="101600"/>
                  </a:cubicBezTo>
                  <a:cubicBezTo>
                    <a:pt x="57941" y="101600"/>
                    <a:pt x="63627" y="95914"/>
                    <a:pt x="63627" y="88900"/>
                  </a:cubicBezTo>
                  <a:cubicBezTo>
                    <a:pt x="63627" y="81886"/>
                    <a:pt x="57941" y="76200"/>
                    <a:pt x="50927" y="76200"/>
                  </a:cubicBezTo>
                </a:path>
              </a:pathLst>
            </a:custGeom>
            <a:solidFill>
              <a:srgbClr val="FF6B8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421892" y="4712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本轮融资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5746" y="5039678"/>
              <a:ext cx="11072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天使轮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2223" y="5501164"/>
              <a:ext cx="2982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用于团队搭建 · 产品打磨 · 冷启动获客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143625" y="4343400"/>
            <a:ext cx="5286375" cy="1428750"/>
            <a:chOff x="6143625" y="4343400"/>
            <a:chExt cx="5286375" cy="1428750"/>
          </a:xfrm>
        </p:grpSpPr>
        <p:sp>
          <p:nvSpPr>
            <p:cNvPr id="56" name="Rectangle 56"/>
            <p:cNvSpPr/>
            <p:nvPr/>
          </p:nvSpPr>
          <p:spPr>
            <a:xfrm>
              <a:off x="6143625" y="4343400"/>
              <a:ext cx="5286375" cy="1428750"/>
            </a:xfrm>
            <a:prstGeom prst="roundRect">
              <a:avLst>
                <a:gd name="adj" fmla="val 10667"/>
              </a:avLst>
            </a:prstGeom>
            <a:solidFill>
              <a:srgbClr val="2E2238"/>
            </a:solidFill>
            <a:ln w="14288">
              <a:solidFill>
                <a:srgbClr val="FFD479">
                  <a:alpha val="45000"/>
                </a:srgbClr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461125" y="4660900"/>
              <a:ext cx="207136" cy="228599"/>
            </a:xfrm>
            <a:custGeom>
              <a:avLst/>
              <a:gdLst/>
              <a:ahLst/>
              <a:cxnLst/>
              <a:rect l="l" t="t" r="r" b="b"/>
              <a:pathLst>
                <a:path w="207136" h="228599">
                  <a:moveTo>
                    <a:pt x="190500" y="0"/>
                  </a:moveTo>
                  <a:cubicBezTo>
                    <a:pt x="201320" y="0"/>
                    <a:pt x="206971" y="12522"/>
                    <a:pt x="200444" y="20612"/>
                  </a:cubicBezTo>
                  <a:lnTo>
                    <a:pt x="199478" y="21679"/>
                  </a:lnTo>
                  <a:lnTo>
                    <a:pt x="151320" y="69850"/>
                  </a:lnTo>
                  <a:lnTo>
                    <a:pt x="199478" y="118021"/>
                  </a:lnTo>
                  <a:cubicBezTo>
                    <a:pt x="207136" y="125666"/>
                    <a:pt x="202272" y="138519"/>
                    <a:pt x="191947" y="139623"/>
                  </a:cubicBezTo>
                  <a:lnTo>
                    <a:pt x="190500" y="139700"/>
                  </a:lnTo>
                  <a:lnTo>
                    <a:pt x="25400" y="139700"/>
                  </a:lnTo>
                  <a:lnTo>
                    <a:pt x="25400" y="215899"/>
                  </a:lnTo>
                  <a:cubicBezTo>
                    <a:pt x="25399" y="222338"/>
                    <a:pt x="20580" y="227757"/>
                    <a:pt x="14186" y="228511"/>
                  </a:cubicBezTo>
                  <a:lnTo>
                    <a:pt x="12700" y="228599"/>
                  </a:lnTo>
                  <a:cubicBezTo>
                    <a:pt x="6261" y="228599"/>
                    <a:pt x="842" y="223780"/>
                    <a:pt x="89" y="217385"/>
                  </a:cubicBezTo>
                  <a:lnTo>
                    <a:pt x="0" y="215899"/>
                  </a:lnTo>
                  <a:lnTo>
                    <a:pt x="0" y="12700"/>
                  </a:lnTo>
                  <a:cubicBezTo>
                    <a:pt x="1" y="6261"/>
                    <a:pt x="4820" y="842"/>
                    <a:pt x="11214" y="89"/>
                  </a:cubicBezTo>
                  <a:lnTo>
                    <a:pt x="12700" y="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D47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3517" y="4712018"/>
              <a:ext cx="1234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12 个月里程碑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97371" y="5039678"/>
              <a:ext cx="2332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DE6EC"/>
                  </a:solidFill>
                  <a:latin typeface="Segoe UI"/>
                  <a:ea typeface="Microsoft YaHei"/>
                  <a:cs typeface="Segoe UI"/>
                </a:rPr>
                <a:t>10 万注册用户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03848" y="55011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验证留存与单位经济模型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799751" y="6108382"/>
            <a:ext cx="4592498" cy="322707"/>
            <a:chOff x="3799751" y="6108382"/>
            <a:chExt cx="4592498" cy="322707"/>
          </a:xfrm>
        </p:grpSpPr>
        <p:sp>
          <p:nvSpPr>
            <p:cNvPr id="62" name="TextBox 62"/>
            <p:cNvSpPr txBox="1"/>
            <p:nvPr/>
          </p:nvSpPr>
          <p:spPr>
            <a:xfrm>
              <a:off x="3799751" y="6108382"/>
              <a:ext cx="45924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99FB0"/>
                  </a:solidFill>
                  <a:latin typeface="Segoe UI"/>
                  <a:ea typeface="Microsoft YaHei"/>
                  <a:cs typeface="Segoe UI"/>
                </a:rPr>
                <a:t>让记账重新变得简单——</a:t>
              </a:r>
              <a:r>
                <a:rPr lang="zh-CN" sz="1650" b="1" dirty="0">
                  <a:solidFill>
                    <a:srgbClr val="FFD479"/>
                  </a:solidFill>
                  <a:latin typeface="Segoe UI"/>
                  <a:ea typeface="Microsoft YaHei"/>
                  <a:cs typeface="Segoe UI"/>
                </a:rPr>
                <a:t>一秒记账，清楚花钱。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6285" y="6488906"/>
            <a:ext cx="10679430" cy="220028"/>
            <a:chOff x="756285" y="6488906"/>
            <a:chExt cx="10679430" cy="220028"/>
          </a:xfrm>
        </p:grpSpPr>
        <p:sp>
          <p:nvSpPr>
            <p:cNvPr id="64" name="TextBox 64"/>
            <p:cNvSpPr txBox="1"/>
            <p:nvPr/>
          </p:nvSpPr>
          <p:spPr>
            <a:xfrm>
              <a:off x="756285" y="6488906"/>
              <a:ext cx="1548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6076"/>
                  </a:solidFill>
                  <a:latin typeface="Segoe UI"/>
                  <a:ea typeface="Microsoft YaHei"/>
                  <a:cs typeface="Segoe UI"/>
                </a:rPr>
                <a:t>每日记账 · 投资人路演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916936" y="6488906"/>
              <a:ext cx="5187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E6076"/>
                  </a:solidFill>
                  <a:latin typeface="Segoe UI"/>
                  <a:ea typeface="Segoe UI"/>
                  <a:cs typeface="Segoe UI"/>
                </a:rPr>
                <a:t>05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2026-06-30T14:52:39Z</dcterms:created>
  <dcterms:modified xsi:type="dcterms:W3CDTF">2026-06-30T14:52:39Z</dcterms:modified>
  <cp:category/>
  <cp:contentStatus/>
</cp:coreProperties>
</file>